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59" r:id="rId1"/>
  </p:sldMasterIdLst>
  <p:notesMasterIdLst>
    <p:notesMasterId r:id="rId18"/>
  </p:notesMasterIdLst>
  <p:sldIdLst>
    <p:sldId id="256" r:id="rId2"/>
    <p:sldId id="264" r:id="rId3"/>
    <p:sldId id="280" r:id="rId4"/>
    <p:sldId id="293" r:id="rId5"/>
    <p:sldId id="296" r:id="rId6"/>
    <p:sldId id="294" r:id="rId7"/>
    <p:sldId id="297" r:id="rId8"/>
    <p:sldId id="308" r:id="rId9"/>
    <p:sldId id="298" r:id="rId10"/>
    <p:sldId id="309" r:id="rId11"/>
    <p:sldId id="300" r:id="rId12"/>
    <p:sldId id="305" r:id="rId13"/>
    <p:sldId id="307" r:id="rId14"/>
    <p:sldId id="291" r:id="rId15"/>
    <p:sldId id="299" r:id="rId16"/>
    <p:sldId id="295" r:id="rId1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2159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p:cViewPr varScale="1">
        <p:scale>
          <a:sx n="110" d="100"/>
          <a:sy n="110" d="100"/>
        </p:scale>
        <p:origin x="618" y="10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9/16/2026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9/16/2026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9/16/2026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9/16/2026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9/16/2026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9/16/2026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76300" y="1295400"/>
            <a:ext cx="10439400" cy="1295400"/>
          </a:xfrm>
        </p:spPr>
        <p:txBody>
          <a:bodyPr rtlCol="0">
            <a:normAutofit/>
          </a:bodyPr>
          <a:lstStyle/>
          <a:p>
            <a:r>
              <a:rPr lang="en-US" sz="3200" dirty="0">
                <a:solidFill>
                  <a:srgbClr val="7030A0"/>
                </a:solidFill>
                <a:latin typeface="Century" panose="02040604050505020304" pitchFamily="18" charset="0"/>
              </a:rPr>
              <a:t>AI-Based Computer Vision and Deep Learning Approach for </a:t>
            </a:r>
            <a:r>
              <a:rPr lang="en-US" sz="3200" dirty="0">
                <a:solidFill>
                  <a:srgbClr val="7030A0"/>
                </a:solidFill>
                <a:latin typeface="Times New Roman" panose="02020603050405020304" pitchFamily="18" charset="0"/>
              </a:rPr>
              <a:t>Multiple</a:t>
            </a:r>
            <a:r>
              <a:rPr lang="en-US" sz="3200" dirty="0">
                <a:solidFill>
                  <a:srgbClr val="7030A0"/>
                </a:solidFill>
                <a:latin typeface="Century" panose="02040604050505020304" pitchFamily="18" charset="0"/>
              </a:rPr>
              <a:t> Sclerosis (MS) Lesion Detection</a:t>
            </a:r>
            <a:endParaRPr lang="en-US" sz="3200" dirty="0">
              <a:solidFill>
                <a:srgbClr val="7030A0"/>
              </a:solidFill>
              <a:effectLst/>
              <a:latin typeface="Century" panose="02040604050505020304" pitchFamily="18" charset="0"/>
            </a:endParaRPr>
          </a:p>
        </p:txBody>
      </p:sp>
      <p:sp>
        <p:nvSpPr>
          <p:cNvPr id="2" name="TextBox 1">
            <a:extLst>
              <a:ext uri="{FF2B5EF4-FFF2-40B4-BE49-F238E27FC236}">
                <a16:creationId xmlns:a16="http://schemas.microsoft.com/office/drawing/2014/main" xmlns="" id="{46FC8551-41BC-7160-AB58-5A1854853554}"/>
              </a:ext>
            </a:extLst>
          </p:cNvPr>
          <p:cNvSpPr txBox="1"/>
          <p:nvPr/>
        </p:nvSpPr>
        <p:spPr>
          <a:xfrm>
            <a:off x="8906256" y="185335"/>
            <a:ext cx="3276600" cy="369332"/>
          </a:xfrm>
          <a:prstGeom prst="rect">
            <a:avLst/>
          </a:prstGeom>
          <a:solidFill>
            <a:srgbClr val="215968"/>
          </a:solidFill>
        </p:spPr>
        <p:txBody>
          <a:bodyPr wrap="square" rtlCol="0">
            <a:spAutoFit/>
          </a:bodyPr>
          <a:lstStyle/>
          <a:p>
            <a:pPr algn="r"/>
            <a:r>
              <a:rPr lang="en-US" b="1" dirty="0">
                <a:solidFill>
                  <a:schemeClr val="bg1"/>
                </a:solidFill>
              </a:rPr>
              <a:t>B.Sc. </a:t>
            </a:r>
            <a:r>
              <a:rPr lang="en-US" b="1" dirty="0" smtClean="0">
                <a:solidFill>
                  <a:schemeClr val="bg1"/>
                </a:solidFill>
              </a:rPr>
              <a:t>Final-Defense</a:t>
            </a:r>
            <a:endParaRPr lang="en-US" b="1" dirty="0">
              <a:solidFill>
                <a:schemeClr val="bg1"/>
              </a:solidFill>
            </a:endParaRPr>
          </a:p>
        </p:txBody>
      </p:sp>
      <p:sp>
        <p:nvSpPr>
          <p:cNvPr id="6" name="Subtitle 4"/>
          <p:cNvSpPr>
            <a:spLocks noGrp="1"/>
          </p:cNvSpPr>
          <p:nvPr>
            <p:ph type="subTitle" idx="1"/>
          </p:nvPr>
        </p:nvSpPr>
        <p:spPr>
          <a:xfrm>
            <a:off x="3467100" y="4114800"/>
            <a:ext cx="5257800" cy="2209800"/>
          </a:xfrm>
        </p:spPr>
        <p:txBody>
          <a:bodyPr rtlCol="0">
            <a:noAutofit/>
          </a:bodyPr>
          <a:lstStyle/>
          <a:p>
            <a:r>
              <a:rPr lang="en-US" sz="2000" dirty="0">
                <a:solidFill>
                  <a:schemeClr val="tx1"/>
                </a:solidFill>
                <a:latin typeface="Times New Roman" panose="02020603050405020304" pitchFamily="18" charset="0"/>
                <a:cs typeface="Times New Roman" panose="02020603050405020304" pitchFamily="18" charset="0"/>
              </a:rPr>
              <a:t>Amir Rahman Arafat</a:t>
            </a:r>
          </a:p>
          <a:p>
            <a:r>
              <a:rPr lang="en-US" sz="2000" dirty="0">
                <a:solidFill>
                  <a:schemeClr val="tx1"/>
                </a:solidFill>
                <a:latin typeface="Times New Roman" panose="02020603050405020304" pitchFamily="18" charset="0"/>
                <a:cs typeface="Times New Roman" panose="02020603050405020304" pitchFamily="18" charset="0"/>
              </a:rPr>
              <a:t>ID : 0242220005101874</a:t>
            </a:r>
          </a:p>
          <a:p>
            <a:r>
              <a:rPr lang="en-US" sz="2000" dirty="0">
                <a:solidFill>
                  <a:schemeClr val="tx1"/>
                </a:solidFill>
                <a:latin typeface="Times New Roman" panose="02020603050405020304" pitchFamily="18" charset="0"/>
                <a:cs typeface="Times New Roman" panose="02020603050405020304" pitchFamily="18" charset="0"/>
              </a:rPr>
              <a:t>Most.Sanjida Islam</a:t>
            </a:r>
          </a:p>
          <a:p>
            <a:r>
              <a:rPr lang="en-US" sz="2000" dirty="0">
                <a:solidFill>
                  <a:schemeClr val="tx1"/>
                </a:solidFill>
                <a:latin typeface="Times New Roman" panose="02020603050405020304" pitchFamily="18" charset="0"/>
                <a:cs typeface="Times New Roman" panose="02020603050405020304" pitchFamily="18" charset="0"/>
              </a:rPr>
              <a:t>ID: 0242220005101249</a:t>
            </a:r>
          </a:p>
          <a:p>
            <a:r>
              <a:rPr lang="en-US" sz="2000" dirty="0">
                <a:solidFill>
                  <a:schemeClr val="tx1"/>
                </a:solidFill>
                <a:latin typeface="Times New Roman" panose="02020603050405020304" pitchFamily="18" charset="0"/>
                <a:cs typeface="Times New Roman" panose="02020603050405020304" pitchFamily="18" charset="0"/>
              </a:rPr>
              <a:t>Department of  CSE</a:t>
            </a:r>
          </a:p>
          <a:p>
            <a:r>
              <a:rPr lang="en-US" sz="20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4" name="Slide Number Placeholder 3"/>
          <p:cNvSpPr>
            <a:spLocks noGrp="1"/>
          </p:cNvSpPr>
          <p:nvPr>
            <p:ph type="sldNum" sz="quarter" idx="16"/>
          </p:nvPr>
        </p:nvSpPr>
        <p:spPr>
          <a:xfrm>
            <a:off x="9296400" y="5989637"/>
            <a:ext cx="2844800" cy="365125"/>
          </a:xfrm>
        </p:spPr>
        <p:txBody>
          <a:bodyPr/>
          <a:lstStyle/>
          <a:p>
            <a:pPr>
              <a:defRPr/>
            </a:pPr>
            <a:fld id="{4CD333A3-7515-47B8-9EDC-EE0892D9C861}" type="slidenum">
              <a:rPr lang="en-US" smtClean="0"/>
              <a:pPr>
                <a:defRPr/>
              </a:pPr>
              <a:t>2</a:t>
            </a:fld>
            <a:endParaRPr lang="en-US"/>
          </a:p>
        </p:txBody>
      </p:sp>
      <p:sp>
        <p:nvSpPr>
          <p:cNvPr id="5" name="TextBox 4">
            <a:extLst>
              <a:ext uri="{FF2B5EF4-FFF2-40B4-BE49-F238E27FC236}">
                <a16:creationId xmlns:a16="http://schemas.microsoft.com/office/drawing/2014/main" xmlns="" id="{1174EFF0-3D03-C0F9-F0D4-A9D3482709F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2"/>
          <p:cNvSpPr>
            <a:spLocks noGrp="1"/>
          </p:cNvSpPr>
          <p:nvPr>
            <p:ph sz="quarter" idx="13"/>
          </p:nvPr>
        </p:nvSpPr>
        <p:spPr>
          <a:xfrm>
            <a:off x="533400" y="1589472"/>
            <a:ext cx="10972800" cy="3962400"/>
          </a:xfrm>
        </p:spPr>
        <p:txBody>
          <a:bodyPr>
            <a:noAutofit/>
          </a:bodyPr>
          <a:lstStyle/>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Novelty of the </a:t>
            </a:r>
            <a:r>
              <a:rPr lang="en-US" sz="2000" dirty="0" smtClean="0">
                <a:solidFill>
                  <a:schemeClr val="tx1"/>
                </a:solidFill>
                <a:latin typeface="Times New Roman" panose="02020603050405020304" pitchFamily="18" charset="0"/>
                <a:cs typeface="Times New Roman" panose="02020603050405020304" pitchFamily="18" charset="0"/>
              </a:rPr>
              <a:t>Work</a:t>
            </a:r>
          </a:p>
          <a:p>
            <a:pPr>
              <a:buFont typeface="Wingdings" pitchFamily="2" charset="2"/>
              <a:buChar char="Ø"/>
            </a:pPr>
            <a:r>
              <a:rPr lang="en-US" sz="2000" dirty="0" smtClean="0">
                <a:solidFill>
                  <a:schemeClr val="tx1"/>
                </a:solidFill>
                <a:latin typeface="Times New Roman" panose="02020603050405020304" pitchFamily="18" charset="0"/>
                <a:cs typeface="Times New Roman" panose="02020603050405020304" pitchFamily="18" charset="0"/>
              </a:rPr>
              <a:t>Sample Dataset</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3472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xmlns="" id="{301160C4-4E81-64AE-82AE-E159832FFEF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p:cNvSpPr>
            <a:spLocks noGrp="1"/>
          </p:cNvSpPr>
          <p:nvPr>
            <p:ph sz="quarter" idx="13"/>
          </p:nvPr>
        </p:nvSpPr>
        <p:spPr>
          <a:xfrm>
            <a:off x="838200" y="1752600"/>
            <a:ext cx="10744200" cy="3429000"/>
          </a:xfrm>
        </p:spPr>
        <p:txBody>
          <a:bodyPr>
            <a:noAutofit/>
          </a:bodyPr>
          <a:lstStyle/>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Multiple Sclerosis (MS) is a chronic neurological disease that affects the central nervous system and can produce lesions in different regions of the brain. MRI is widely used to identify and monitor these lesions, but manual lesion segmentation is time-consuming, requires expert knowledge, and may vary between observers. These challenges create a need for accurate and efficient automated segmentation methods</a:t>
            </a:r>
            <a:r>
              <a:rPr lang="en-US" sz="1800" dirty="0" smtClean="0">
                <a:solidFill>
                  <a:schemeClr val="tx1"/>
                </a:solidFill>
                <a:latin typeface="Times New Roman" panose="02020603050405020304" pitchFamily="18" charset="0"/>
                <a:cs typeface="Times New Roman" panose="02020603050405020304" pitchFamily="18" charset="0"/>
              </a:rPr>
              <a:t>.</a:t>
            </a:r>
          </a:p>
          <a:p>
            <a:pPr marL="0" indent="0" algn="just">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Deep learning has shown strong potential for automated MS lesion segmentation from three-dimensional MRI data. In this work, the MSLesSeg dataset is used with FLAIR, T1-weighted, and T2-weighted images. N4 bias-field correction and non-zero voxel Z-score normalization are applied before training, while a FLAIR-only UNETR serves as the baseline and a proposed gated residual multimodal model uses FLAIR as the primary modality with T1 and T2 as complementary information. The models are evaluated using Dice, Precision, Recall, IoU, and lesion-level analysis.</a:t>
            </a:r>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4" name="Slide Number Placeholder 3"/>
          <p:cNvSpPr>
            <a:spLocks noGrp="1"/>
          </p:cNvSpPr>
          <p:nvPr>
            <p:ph type="sldNum" sz="quarter" idx="16"/>
          </p:nvPr>
        </p:nvSpPr>
        <p:spPr>
          <a:xfrm>
            <a:off x="9350248" y="5989637"/>
            <a:ext cx="2844800" cy="365125"/>
          </a:xfrm>
        </p:spPr>
        <p:txBody>
          <a:bodyPr/>
          <a:lstStyle/>
          <a:p>
            <a:pPr>
              <a:defRPr/>
            </a:pPr>
            <a:fld id="{4CD333A3-7515-47B8-9EDC-EE0892D9C861}" type="slidenum">
              <a:rPr lang="en-US" smtClean="0"/>
              <a:pPr>
                <a:defRPr/>
              </a:pPr>
              <a:t>4</a:t>
            </a:fld>
            <a:endParaRPr lang="en-US" dirty="0"/>
          </a:p>
        </p:txBody>
      </p:sp>
      <p:sp>
        <p:nvSpPr>
          <p:cNvPr id="5" name="TextBox 4">
            <a:extLst>
              <a:ext uri="{FF2B5EF4-FFF2-40B4-BE49-F238E27FC236}">
                <a16:creationId xmlns:a16="http://schemas.microsoft.com/office/drawing/2014/main" xmlns="" id="{C7B064D8-8C59-7D9E-B404-8CE93061EC3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5"/>
          <p:cNvSpPr txBox="1">
            <a:spLocks noGrp="1"/>
          </p:cNvSpPr>
          <p:nvPr>
            <p:ph sz="quarter" idx="13"/>
          </p:nvPr>
        </p:nvSpPr>
        <p:spPr>
          <a:xfrm>
            <a:off x="685800" y="1757734"/>
            <a:ext cx="10972800" cy="3083921"/>
          </a:xfrm>
          <a:prstGeom prst="rect">
            <a:avLst/>
          </a:prstGeom>
          <a:noFill/>
        </p:spPr>
        <p:txBody>
          <a:bodyPr wrap="square" rtlCol="0">
            <a:spAutoFit/>
          </a:bodyPr>
          <a:lstStyle/>
          <a:p>
            <a:pPr marL="285750" lvl="0" indent="-285750" algn="just" eaLnBrk="0" hangingPunct="0">
              <a:buFont typeface="Wingdings" panose="05000000000000000000" pitchFamily="2" charset="2"/>
              <a:buChar char="Ø"/>
            </a:pPr>
            <a:r>
              <a:rPr lang="en-US" altLang="en-US" sz="1800" dirty="0" smtClean="0">
                <a:solidFill>
                  <a:schemeClr val="tx1"/>
                </a:solidFill>
                <a:latin typeface="Times New Roman" panose="02020603050405020304" pitchFamily="18" charset="0"/>
                <a:cs typeface="Times New Roman" panose="02020603050405020304" pitchFamily="18" charset="0"/>
              </a:rPr>
              <a:t>Develop a FLAIR-based 3D deep learning model and establish UNETR as the baseline for automated MS lesion segmentation. </a:t>
            </a:r>
          </a:p>
          <a:p>
            <a:pPr marL="285750" lvl="0" indent="-285750" algn="just" eaLnBrk="0" hangingPunct="0">
              <a:buFont typeface="Wingdings" panose="05000000000000000000" pitchFamily="2" charset="2"/>
              <a:buChar char="Ø"/>
            </a:pPr>
            <a:r>
              <a:rPr lang="en-US" altLang="en-US" sz="1800" dirty="0" smtClean="0">
                <a:solidFill>
                  <a:schemeClr val="tx1"/>
                </a:solidFill>
                <a:latin typeface="Times New Roman" panose="02020603050405020304" pitchFamily="18" charset="0"/>
                <a:cs typeface="Times New Roman" panose="02020603050405020304" pitchFamily="18" charset="0"/>
              </a:rPr>
              <a:t>Design a gated residual multimodal model using FLAIR as the primary modality and T1- and T2-weighted MRI as complementary inputs. </a:t>
            </a:r>
          </a:p>
          <a:p>
            <a:pPr marL="285750" lvl="0" indent="-285750" algn="just" eaLnBrk="0" hangingPunct="0">
              <a:buFont typeface="Wingdings" panose="05000000000000000000" pitchFamily="2" charset="2"/>
              <a:buChar char="Ø"/>
            </a:pPr>
            <a:r>
              <a:rPr lang="en-US" sz="1800" dirty="0" smtClean="0">
                <a:solidFill>
                  <a:schemeClr val="tx1"/>
                </a:solidFill>
                <a:latin typeface="Times New Roman" panose="02020603050405020304" pitchFamily="18" charset="0"/>
                <a:cs typeface="Times New Roman" panose="02020603050405020304" pitchFamily="18" charset="0"/>
              </a:rPr>
              <a:t>Develop </a:t>
            </a:r>
            <a:r>
              <a:rPr lang="en-US" sz="1800" dirty="0">
                <a:solidFill>
                  <a:schemeClr val="tx1"/>
                </a:solidFill>
                <a:latin typeface="Times New Roman" panose="02020603050405020304" pitchFamily="18" charset="0"/>
                <a:cs typeface="Times New Roman" panose="02020603050405020304" pitchFamily="18" charset="0"/>
              </a:rPr>
              <a:t>an automated preprocessing pipeline to convert and prepare MRI data through volume validation, registration, skull stripping, bias-field correction, intensity normalization, and spatial alignment for model-ready input</a:t>
            </a:r>
            <a:r>
              <a:rPr lang="en-US" sz="1800" dirty="0" smtClean="0">
                <a:solidFill>
                  <a:schemeClr val="tx1"/>
                </a:solidFill>
                <a:latin typeface="Times New Roman" panose="02020603050405020304" pitchFamily="18" charset="0"/>
                <a:cs typeface="Times New Roman" panose="02020603050405020304" pitchFamily="18" charset="0"/>
              </a:rPr>
              <a:t>.</a:t>
            </a:r>
          </a:p>
          <a:p>
            <a:pPr marL="285750" lvl="0" indent="-285750" algn="just" eaLnBrk="0" hangingPunct="0">
              <a:buFont typeface="Wingdings" panose="05000000000000000000" pitchFamily="2" charset="2"/>
              <a:buChar char="Ø"/>
            </a:pPr>
            <a:r>
              <a:rPr lang="en-US" altLang="en-US" sz="1800" dirty="0" smtClean="0">
                <a:solidFill>
                  <a:schemeClr val="tx1"/>
                </a:solidFill>
                <a:latin typeface="Times New Roman" panose="02020603050405020304" pitchFamily="18" charset="0"/>
                <a:cs typeface="Times New Roman" panose="02020603050405020304" pitchFamily="18" charset="0"/>
              </a:rPr>
              <a:t>Analyze how lesion size and FLAIR brightness affect segmentation performance, particularly for difficult-to-detect lesions. </a:t>
            </a:r>
          </a:p>
          <a:p>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5</a:t>
            </a:fld>
            <a:endParaRPr lang="en-US" dirty="0"/>
          </a:p>
        </p:txBody>
      </p:sp>
      <p:sp>
        <p:nvSpPr>
          <p:cNvPr id="6" name="TextBox 5">
            <a:extLst>
              <a:ext uri="{FF2B5EF4-FFF2-40B4-BE49-F238E27FC236}">
                <a16:creationId xmlns:a16="http://schemas.microsoft.com/office/drawing/2014/main" xmlns=""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7" name="Table 6"/>
          <p:cNvGraphicFramePr>
            <a:graphicFrameLocks noGrp="1"/>
          </p:cNvGraphicFramePr>
          <p:nvPr>
            <p:extLst>
              <p:ext uri="{D42A27DB-BD31-4B8C-83A1-F6EECF244321}">
                <p14:modId xmlns:p14="http://schemas.microsoft.com/office/powerpoint/2010/main" val="2688128615"/>
              </p:ext>
            </p:extLst>
          </p:nvPr>
        </p:nvGraphicFramePr>
        <p:xfrm>
          <a:off x="990599" y="1295401"/>
          <a:ext cx="10210801" cy="4413353"/>
        </p:xfrm>
        <a:graphic>
          <a:graphicData uri="http://schemas.openxmlformats.org/drawingml/2006/table">
            <a:tbl>
              <a:tblPr firstRow="1" bandRow="1">
                <a:tableStyleId>{5940675A-B579-460E-94D1-54222C63F5DA}</a:tableStyleId>
              </a:tblPr>
              <a:tblGrid>
                <a:gridCol w="1676401"/>
                <a:gridCol w="1905000"/>
                <a:gridCol w="1752600"/>
                <a:gridCol w="4876800"/>
              </a:tblGrid>
              <a:tr h="357165">
                <a:tc>
                  <a:txBody>
                    <a:bodyPr/>
                    <a:lstStyle/>
                    <a:p>
                      <a:r>
                        <a:rPr lang="en-US" sz="1800" b="1" dirty="0">
                          <a:latin typeface="Times New Roman" panose="02020603050405020304" pitchFamily="18" charset="0"/>
                          <a:cs typeface="Times New Roman" panose="02020603050405020304" pitchFamily="18" charset="0"/>
                        </a:rPr>
                        <a:t>Study</a:t>
                      </a:r>
                    </a:p>
                  </a:txBody>
                  <a:tcPr/>
                </a:tc>
                <a:tc>
                  <a:txBody>
                    <a:bodyPr/>
                    <a:lstStyle/>
                    <a:p>
                      <a:r>
                        <a:rPr lang="en-US" sz="1800" b="1" dirty="0" smtClean="0">
                          <a:latin typeface="Times New Roman" panose="02020603050405020304" pitchFamily="18" charset="0"/>
                          <a:cs typeface="Times New Roman" panose="02020603050405020304" pitchFamily="18" charset="0"/>
                        </a:rPr>
                        <a:t>Method</a:t>
                      </a:r>
                      <a:endParaRPr lang="en-US" sz="1800" b="1" dirty="0">
                        <a:latin typeface="Times New Roman" panose="02020603050405020304" pitchFamily="18" charset="0"/>
                        <a:cs typeface="Times New Roman" panose="02020603050405020304" pitchFamily="18" charset="0"/>
                      </a:endParaRPr>
                    </a:p>
                  </a:txBody>
                  <a:tcPr/>
                </a:tc>
                <a:tc>
                  <a:txBody>
                    <a:bodyPr/>
                    <a:lstStyle/>
                    <a:p>
                      <a:r>
                        <a:rPr lang="en-US" sz="1800" b="1" dirty="0" smtClean="0">
                          <a:latin typeface="Times New Roman" panose="02020603050405020304" pitchFamily="18" charset="0"/>
                          <a:cs typeface="Times New Roman" panose="02020603050405020304" pitchFamily="18" charset="0"/>
                        </a:rPr>
                        <a:t>MRI Input</a:t>
                      </a:r>
                      <a:endParaRPr lang="en-US" sz="1800" b="1" dirty="0">
                        <a:latin typeface="Times New Roman" panose="02020603050405020304" pitchFamily="18" charset="0"/>
                        <a:cs typeface="Times New Roman" panose="02020603050405020304" pitchFamily="18" charset="0"/>
                      </a:endParaRPr>
                    </a:p>
                  </a:txBody>
                  <a:tcPr/>
                </a:tc>
                <a:tc>
                  <a:txBody>
                    <a:bodyPr/>
                    <a:lstStyle/>
                    <a:p>
                      <a:r>
                        <a:rPr lang="en-US" sz="1800" b="1" dirty="0" smtClean="0">
                          <a:latin typeface="Times New Roman" panose="02020603050405020304" pitchFamily="18" charset="0"/>
                          <a:cs typeface="Times New Roman" panose="02020603050405020304" pitchFamily="18" charset="0"/>
                        </a:rPr>
                        <a:t>Key Finding</a:t>
                      </a:r>
                      <a:endParaRPr lang="en-US" sz="1800" b="1" dirty="0">
                        <a:latin typeface="Times New Roman" panose="02020603050405020304" pitchFamily="18" charset="0"/>
                        <a:cs typeface="Times New Roman" panose="02020603050405020304" pitchFamily="18" charset="0"/>
                      </a:endParaRPr>
                    </a:p>
                  </a:txBody>
                  <a:tcPr/>
                </a:tc>
              </a:tr>
              <a:tr h="701039">
                <a:tc>
                  <a:txBody>
                    <a:bodyPr/>
                    <a:lstStyle/>
                    <a:p>
                      <a:r>
                        <a:rPr lang="en-US" sz="1800" dirty="0" err="1" smtClean="0">
                          <a:latin typeface="Times New Roman" panose="02020603050405020304" pitchFamily="18" charset="0"/>
                          <a:cs typeface="Times New Roman" panose="02020603050405020304" pitchFamily="18" charset="0"/>
                        </a:rPr>
                        <a:t>Hindawi</a:t>
                      </a:r>
                      <a:r>
                        <a:rPr lang="en-US" sz="1800" dirty="0" smtClean="0">
                          <a:latin typeface="Times New Roman" panose="02020603050405020304" pitchFamily="18" charset="0"/>
                          <a:cs typeface="Times New Roman" panose="02020603050405020304" pitchFamily="18" charset="0"/>
                        </a:rPr>
                        <a:t> et al. [2]</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Federated </a:t>
                      </a:r>
                      <a:r>
                        <a:rPr lang="en-US" sz="1800" dirty="0" err="1" smtClean="0">
                          <a:latin typeface="Times New Roman" panose="02020603050405020304" pitchFamily="18" charset="0"/>
                          <a:cs typeface="Times New Roman" panose="02020603050405020304" pitchFamily="18" charset="0"/>
                        </a:rPr>
                        <a:t>nnU</a:t>
                      </a:r>
                      <a:r>
                        <a:rPr lang="en-US" sz="1800" dirty="0" smtClean="0">
                          <a:latin typeface="Times New Roman" panose="02020603050405020304" pitchFamily="18" charset="0"/>
                          <a:cs typeface="Times New Roman" panose="02020603050405020304" pitchFamily="18" charset="0"/>
                        </a:rPr>
                        <a:t>-Net</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Multimodal MRI</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Combined self-configuring </a:t>
                      </a:r>
                      <a:r>
                        <a:rPr lang="en-US" sz="1800" dirty="0" err="1" smtClean="0">
                          <a:latin typeface="Times New Roman" panose="02020603050405020304" pitchFamily="18" charset="0"/>
                          <a:cs typeface="Times New Roman" panose="02020603050405020304" pitchFamily="18" charset="0"/>
                        </a:rPr>
                        <a:t>nnU</a:t>
                      </a:r>
                      <a:r>
                        <a:rPr lang="en-US" sz="1800" dirty="0" smtClean="0">
                          <a:latin typeface="Times New Roman" panose="02020603050405020304" pitchFamily="18" charset="0"/>
                          <a:cs typeface="Times New Roman" panose="02020603050405020304" pitchFamily="18" charset="0"/>
                        </a:rPr>
                        <a:t>-Net with federated learning and reported Dice scores of approximately 0.66–0.80 across sites.</a:t>
                      </a:r>
                      <a:endParaRPr lang="en-US" sz="1800" dirty="0">
                        <a:latin typeface="Times New Roman" panose="02020603050405020304" pitchFamily="18" charset="0"/>
                        <a:cs typeface="Times New Roman" panose="02020603050405020304" pitchFamily="18" charset="0"/>
                      </a:endParaRPr>
                    </a:p>
                  </a:txBody>
                  <a:tcPr/>
                </a:tc>
              </a:tr>
              <a:tr h="685800">
                <a:tc>
                  <a:txBody>
                    <a:bodyPr/>
                    <a:lstStyle/>
                    <a:p>
                      <a:r>
                        <a:rPr lang="en-US" sz="1800" dirty="0" err="1" smtClean="0">
                          <a:latin typeface="Times New Roman" panose="02020603050405020304" pitchFamily="18" charset="0"/>
                          <a:cs typeface="Times New Roman" panose="02020603050405020304" pitchFamily="18" charset="0"/>
                        </a:rPr>
                        <a:t>Andishgar</a:t>
                      </a:r>
                      <a:r>
                        <a:rPr lang="en-US" sz="1800" dirty="0" smtClean="0">
                          <a:latin typeface="Times New Roman" panose="02020603050405020304" pitchFamily="18" charset="0"/>
                          <a:cs typeface="Times New Roman" panose="02020603050405020304" pitchFamily="18" charset="0"/>
                        </a:rPr>
                        <a:t> et al. [3]</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R2AUNet</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FLAIR </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Achieved 0.768 Dice with recurrent residual blocks and dual attention.</a:t>
                      </a:r>
                      <a:endParaRPr lang="en-US" sz="1800" dirty="0">
                        <a:latin typeface="Times New Roman" panose="02020603050405020304" pitchFamily="18" charset="0"/>
                        <a:cs typeface="Times New Roman" panose="02020603050405020304" pitchFamily="18" charset="0"/>
                      </a:endParaRPr>
                    </a:p>
                  </a:txBody>
                  <a:tcPr/>
                </a:tc>
              </a:tr>
              <a:tr h="762000">
                <a:tc>
                  <a:txBody>
                    <a:bodyPr/>
                    <a:lstStyle/>
                    <a:p>
                      <a:r>
                        <a:rPr lang="en-US" sz="1800" dirty="0" err="1" smtClean="0">
                          <a:latin typeface="Times New Roman" panose="02020603050405020304" pitchFamily="18" charset="0"/>
                          <a:cs typeface="Times New Roman" panose="02020603050405020304" pitchFamily="18" charset="0"/>
                        </a:rPr>
                        <a:t>Guarnera</a:t>
                      </a:r>
                      <a:r>
                        <a:rPr lang="en-US" sz="1800" dirty="0" smtClean="0">
                          <a:latin typeface="Times New Roman" panose="02020603050405020304" pitchFamily="18" charset="0"/>
                          <a:cs typeface="Times New Roman" panose="02020603050405020304" pitchFamily="18" charset="0"/>
                        </a:rPr>
                        <a:t> et al. [6]</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MSLesSeg benchmark</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FLAIR + T1+T2</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Reported 0.6421 mean Dice for UNETR and highlighted complementary information from T1/T2.</a:t>
                      </a:r>
                      <a:endParaRPr lang="en-US" sz="1800" dirty="0">
                        <a:latin typeface="Times New Roman" panose="02020603050405020304" pitchFamily="18" charset="0"/>
                        <a:cs typeface="Times New Roman" panose="02020603050405020304" pitchFamily="18" charset="0"/>
                      </a:endParaRPr>
                    </a:p>
                  </a:txBody>
                  <a:tcPr/>
                </a:tc>
              </a:tr>
              <a:tr h="632611">
                <a:tc>
                  <a:txBody>
                    <a:bodyPr/>
                    <a:lstStyle/>
                    <a:p>
                      <a:r>
                        <a:rPr lang="en-US" sz="1800" dirty="0" err="1" smtClean="0">
                          <a:latin typeface="Times New Roman" panose="02020603050405020304" pitchFamily="18" charset="0"/>
                          <a:cs typeface="Times New Roman" panose="02020603050405020304" pitchFamily="18" charset="0"/>
                        </a:rPr>
                        <a:t>Wiltgen</a:t>
                      </a:r>
                      <a:r>
                        <a:rPr lang="en-US" sz="1800" dirty="0" smtClean="0">
                          <a:latin typeface="Times New Roman" panose="02020603050405020304" pitchFamily="18" charset="0"/>
                          <a:cs typeface="Times New Roman" panose="02020603050405020304" pitchFamily="18" charset="0"/>
                        </a:rPr>
                        <a:t> et al. [9]</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LST-AI Ensemble</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T1+FLAIR </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Achieved about 0.65 Dice and showed that lesion detection decreases for smaller lesions.</a:t>
                      </a:r>
                      <a:endParaRPr lang="en-US" sz="1800" dirty="0">
                        <a:latin typeface="Times New Roman" panose="02020603050405020304" pitchFamily="18" charset="0"/>
                        <a:cs typeface="Times New Roman" panose="02020603050405020304" pitchFamily="18" charset="0"/>
                      </a:endParaRPr>
                    </a:p>
                  </a:txBody>
                  <a:tcPr/>
                </a:tc>
              </a:tr>
              <a:tr h="892913">
                <a:tc>
                  <a:txBody>
                    <a:bodyPr/>
                    <a:lstStyle/>
                    <a:p>
                      <a:r>
                        <a:rPr lang="en-US" sz="1800" dirty="0" smtClean="0">
                          <a:latin typeface="Times New Roman" panose="02020603050405020304" pitchFamily="18" charset="0"/>
                          <a:cs typeface="Times New Roman" panose="02020603050405020304" pitchFamily="18" charset="0"/>
                        </a:rPr>
                        <a:t>Zhang et al. [10]</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Self-</a:t>
                      </a:r>
                      <a:r>
                        <a:rPr lang="en-US" sz="1800" dirty="0" err="1" smtClean="0">
                          <a:latin typeface="Times New Roman" panose="02020603050405020304" pitchFamily="18" charset="0"/>
                          <a:cs typeface="Times New Roman" panose="02020603050405020304" pitchFamily="18" charset="0"/>
                        </a:rPr>
                        <a:t>Ensembled</a:t>
                      </a:r>
                      <a:r>
                        <a:rPr lang="en-US" sz="1800" dirty="0" smtClean="0">
                          <a:latin typeface="Times New Roman" panose="02020603050405020304" pitchFamily="18" charset="0"/>
                          <a:cs typeface="Times New Roman" panose="02020603050405020304" pitchFamily="18" charset="0"/>
                        </a:rPr>
                        <a:t> Lesion Fusion</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Multimodal MRI</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Used instance normalization and test-time lesion fusion, achieving about 68.2% Dice on ISBI 2015.</a:t>
                      </a:r>
                      <a:endParaRPr lang="en-US" sz="1800"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6</a:t>
            </a:fld>
            <a:endParaRPr lang="en-US" dirty="0"/>
          </a:p>
        </p:txBody>
      </p:sp>
      <p:sp>
        <p:nvSpPr>
          <p:cNvPr id="3" name="TextBox 2">
            <a:extLst>
              <a:ext uri="{FF2B5EF4-FFF2-40B4-BE49-F238E27FC236}">
                <a16:creationId xmlns:a16="http://schemas.microsoft.com/office/drawing/2014/main" xmlns=""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a:extLst>
              <a:ext uri="{FF2B5EF4-FFF2-40B4-BE49-F238E27FC236}">
                <a16:creationId xmlns="" xmlns:a16="http://schemas.microsoft.com/office/drawing/2014/main" id="{21DC6B71-21FD-04D6-556B-38CE32A5EA29}"/>
              </a:ext>
            </a:extLst>
          </p:cNvPr>
          <p:cNvSpPr>
            <a:spLocks noGrp="1"/>
          </p:cNvSpPr>
          <p:nvPr>
            <p:ph sz="quarter" idx="13"/>
          </p:nvPr>
        </p:nvSpPr>
        <p:spPr>
          <a:xfrm>
            <a:off x="609601" y="1153886"/>
            <a:ext cx="10972799" cy="598714"/>
          </a:xfrm>
        </p:spPr>
        <p:txBody>
          <a:bodyPr>
            <a:noAutofit/>
          </a:bodyPr>
          <a:lstStyle/>
          <a:p>
            <a:pPr marL="0" lvl="0" indent="0" algn="just">
              <a:spcBef>
                <a:spcPts val="50"/>
              </a:spcBef>
              <a:spcAft>
                <a:spcPts val="50"/>
              </a:spcAft>
              <a:buNone/>
            </a:pPr>
            <a:r>
              <a:rPr lang="en-US" sz="1800" dirty="0">
                <a:solidFill>
                  <a:schemeClr val="tx1"/>
                </a:solidFill>
                <a:latin typeface="Times New Roman" panose="02020603050405020304" pitchFamily="18" charset="0"/>
                <a:cs typeface="Times New Roman" panose="02020603050405020304" pitchFamily="18" charset="0"/>
              </a:rPr>
              <a:t>Existing methods use multimodal MRI, but selective control of auxiliary information while preserving the strong FLAIR representation remains insufficiently explored.</a:t>
            </a:r>
          </a:p>
        </p:txBody>
      </p:sp>
      <p:graphicFrame>
        <p:nvGraphicFramePr>
          <p:cNvPr id="7" name="Table 6"/>
          <p:cNvGraphicFramePr>
            <a:graphicFrameLocks noGrp="1"/>
          </p:cNvGraphicFramePr>
          <p:nvPr>
            <p:extLst>
              <p:ext uri="{D42A27DB-BD31-4B8C-83A1-F6EECF244321}">
                <p14:modId xmlns:p14="http://schemas.microsoft.com/office/powerpoint/2010/main" val="3186966678"/>
              </p:ext>
            </p:extLst>
          </p:nvPr>
        </p:nvGraphicFramePr>
        <p:xfrm>
          <a:off x="647700" y="1870514"/>
          <a:ext cx="10896599" cy="4149286"/>
        </p:xfrm>
        <a:graphic>
          <a:graphicData uri="http://schemas.openxmlformats.org/drawingml/2006/table">
            <a:tbl>
              <a:tblPr firstRow="1" bandRow="1">
                <a:tableStyleId>{5940675A-B579-460E-94D1-54222C63F5DA}</a:tableStyleId>
              </a:tblPr>
              <a:tblGrid>
                <a:gridCol w="1981200"/>
                <a:gridCol w="4800600"/>
                <a:gridCol w="4114799"/>
              </a:tblGrid>
              <a:tr h="304800">
                <a:tc>
                  <a:txBody>
                    <a:bodyPr/>
                    <a:lstStyle/>
                    <a:p>
                      <a:r>
                        <a:rPr lang="en-US" b="1" dirty="0">
                          <a:latin typeface="Times New Roman" panose="02020603050405020304" pitchFamily="18" charset="0"/>
                          <a:cs typeface="Times New Roman" panose="02020603050405020304" pitchFamily="18" charset="0"/>
                        </a:rPr>
                        <a:t>Research Gap</a:t>
                      </a:r>
                    </a:p>
                  </a:txBody>
                  <a:tcPr/>
                </a:tc>
                <a:tc>
                  <a:txBody>
                    <a:bodyPr/>
                    <a:lstStyle/>
                    <a:p>
                      <a:r>
                        <a:rPr lang="en-US" b="1" dirty="0" smtClean="0">
                          <a:latin typeface="Times New Roman" panose="02020603050405020304" pitchFamily="18" charset="0"/>
                          <a:cs typeface="Times New Roman" panose="02020603050405020304" pitchFamily="18" charset="0"/>
                        </a:rPr>
                        <a:t>Existing Limitation</a:t>
                      </a:r>
                      <a:endParaRPr lang="en-US" b="1" dirty="0">
                        <a:latin typeface="Times New Roman" panose="02020603050405020304" pitchFamily="18" charset="0"/>
                        <a:cs typeface="Times New Roman" panose="02020603050405020304" pitchFamily="18" charset="0"/>
                      </a:endParaRPr>
                    </a:p>
                  </a:txBody>
                  <a:tcPr/>
                </a:tc>
                <a:tc>
                  <a:txBody>
                    <a:bodyPr/>
                    <a:lstStyle/>
                    <a:p>
                      <a:r>
                        <a:rPr lang="en-US" b="1" dirty="0" smtClean="0">
                          <a:latin typeface="Times New Roman" panose="02020603050405020304" pitchFamily="18" charset="0"/>
                          <a:cs typeface="Times New Roman" panose="02020603050405020304" pitchFamily="18" charset="0"/>
                        </a:rPr>
                        <a:t>Our Approach</a:t>
                      </a:r>
                      <a:endParaRPr lang="en-US" b="1" dirty="0">
                        <a:latin typeface="Times New Roman" panose="02020603050405020304" pitchFamily="18" charset="0"/>
                        <a:cs typeface="Times New Roman" panose="02020603050405020304" pitchFamily="18" charset="0"/>
                      </a:endParaRPr>
                    </a:p>
                  </a:txBody>
                  <a:tcPr/>
                </a:tc>
              </a:tr>
              <a:tr h="647700">
                <a:tc>
                  <a:txBody>
                    <a:bodyPr/>
                    <a:lstStyle/>
                    <a:p>
                      <a:r>
                        <a:rPr lang="en-US" dirty="0" smtClean="0">
                          <a:latin typeface="Times New Roman" panose="02020603050405020304" pitchFamily="18" charset="0"/>
                          <a:cs typeface="Times New Roman" panose="02020603050405020304" pitchFamily="18" charset="0"/>
                        </a:rPr>
                        <a:t>Multimodal MRI utilization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T1 and T2 provide complementary information, but their contribution is not always selectively controlled.</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Use FLAIR as the primary modality and T1/T2 as auxiliary modalities.</a:t>
                      </a:r>
                      <a:endParaRPr lang="en-US" dirty="0">
                        <a:latin typeface="Times New Roman" panose="02020603050405020304" pitchFamily="18" charset="0"/>
                        <a:cs typeface="Times New Roman" panose="02020603050405020304" pitchFamily="18" charset="0"/>
                      </a:endParaRPr>
                    </a:p>
                  </a:txBody>
                  <a:tcPr/>
                </a:tc>
              </a:tr>
              <a:tr h="659326">
                <a:tc>
                  <a:txBody>
                    <a:bodyPr/>
                    <a:lstStyle/>
                    <a:p>
                      <a:r>
                        <a:rPr lang="en-US" dirty="0" smtClean="0">
                          <a:latin typeface="Times New Roman" panose="02020603050405020304" pitchFamily="18" charset="0"/>
                          <a:cs typeface="Times New Roman" panose="02020603050405020304" pitchFamily="18" charset="0"/>
                        </a:rPr>
                        <a:t>Multimodal feature fusion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Existing methods use approaches such as direct feature concatenation or output-level fusion.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Introduce Gated Feature Fusion to control the contribution of auxiliary features.</a:t>
                      </a:r>
                      <a:endParaRPr lang="en-US" dirty="0">
                        <a:latin typeface="Times New Roman" panose="02020603050405020304" pitchFamily="18" charset="0"/>
                        <a:cs typeface="Times New Roman" panose="02020603050405020304" pitchFamily="18" charset="0"/>
                      </a:endParaRPr>
                    </a:p>
                  </a:txBody>
                  <a:tcPr/>
                </a:tc>
              </a:tr>
              <a:tr h="647700">
                <a:tc>
                  <a:txBody>
                    <a:bodyPr/>
                    <a:lstStyle/>
                    <a:p>
                      <a:r>
                        <a:rPr lang="en-US" dirty="0" smtClean="0">
                          <a:latin typeface="Times New Roman" panose="02020603050405020304" pitchFamily="18" charset="0"/>
                          <a:cs typeface="Times New Roman" panose="02020603050405020304" pitchFamily="18" charset="0"/>
                        </a:rPr>
                        <a:t>Preservation of FLAIR information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Unrestricted multimodal fusion may weaken the strong lesion representation provided by FLAIR.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Use a FLAIR-centered primary branch with Bounded Residual Correction.</a:t>
                      </a:r>
                      <a:endParaRPr lang="en-US" dirty="0">
                        <a:latin typeface="Times New Roman" panose="02020603050405020304" pitchFamily="18" charset="0"/>
                        <a:cs typeface="Times New Roman" panose="02020603050405020304" pitchFamily="18" charset="0"/>
                      </a:endParaRPr>
                    </a:p>
                  </a:txBody>
                  <a:tcPr/>
                </a:tc>
              </a:tr>
              <a:tr h="647700">
                <a:tc>
                  <a:txBody>
                    <a:bodyPr/>
                    <a:lstStyle/>
                    <a:p>
                      <a:r>
                        <a:rPr lang="en-US" dirty="0" smtClean="0">
                          <a:latin typeface="Times New Roman" panose="02020603050405020304" pitchFamily="18" charset="0"/>
                          <a:cs typeface="Times New Roman" panose="02020603050405020304" pitchFamily="18" charset="0"/>
                        </a:rPr>
                        <a:t>Small and low-contrast lesions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Lesion detection remains difficult, particularly for small and less conspicuous lesions.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Perform lesion-level analysis based on lesion size and FLAIR brightness to examine difficult cases.</a:t>
                      </a:r>
                      <a:endParaRPr lang="en-US" dirty="0">
                        <a:latin typeface="Times New Roman" panose="02020603050405020304" pitchFamily="18" charset="0"/>
                        <a:cs typeface="Times New Roman" panose="02020603050405020304" pitchFamily="18" charset="0"/>
                      </a:endParaRPr>
                    </a:p>
                  </a:txBody>
                  <a:tcPr/>
                </a:tc>
              </a:tr>
              <a:tr h="647700">
                <a:tc>
                  <a:txBody>
                    <a:bodyPr/>
                    <a:lstStyle/>
                    <a:p>
                      <a:r>
                        <a:rPr lang="en-US" dirty="0" smtClean="0">
                          <a:latin typeface="Times New Roman" panose="02020603050405020304" pitchFamily="18" charset="0"/>
                          <a:cs typeface="Times New Roman" panose="02020603050405020304" pitchFamily="18" charset="0"/>
                        </a:rPr>
                        <a:t>Overall evaluation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 high overall Dice score may not fully represent individual lesion detection ability.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Evaluate Dice, Precision, Recall, IoU, and lesion-level recall and detection rate.</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825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347" y="457200"/>
            <a:ext cx="4343400" cy="914400"/>
          </a:xfrm>
        </p:spPr>
        <p:txBody>
          <a:bodyPr/>
          <a:lstStyle/>
          <a:p>
            <a:r>
              <a:rPr lang="en-US" dirty="0">
                <a:solidFill>
                  <a:srgbClr val="7030A0"/>
                </a:solidFill>
                <a:latin typeface="Century" panose="02040604050505020304" pitchFamily="18" charset="0"/>
                <a:cs typeface="Times New Roman" pitchFamily="18" charset="0"/>
              </a:rPr>
              <a:t>Methodology</a:t>
            </a:r>
            <a:endParaRPr lang="en-US" dirty="0">
              <a:solidFill>
                <a:srgbClr val="7030A0"/>
              </a:solidFill>
              <a:latin typeface="Century" panose="02040604050505020304" pitchFamily="18" charset="0"/>
            </a:endParaRPr>
          </a:p>
        </p:txBody>
      </p:sp>
      <p:sp>
        <p:nvSpPr>
          <p:cNvPr id="4" name="Slide Number Placeholder 3"/>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7</a:t>
            </a:fld>
            <a:endParaRPr lang="en-US" dirty="0"/>
          </a:p>
        </p:txBody>
      </p:sp>
      <p:sp>
        <p:nvSpPr>
          <p:cNvPr id="3" name="TextBox 2">
            <a:extLst>
              <a:ext uri="{FF2B5EF4-FFF2-40B4-BE49-F238E27FC236}">
                <a16:creationId xmlns:a16="http://schemas.microsoft.com/office/drawing/2014/main" xmlns="" id="{B816528C-6541-3FC8-24E6-91C1C409DF5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5257800" y="457200"/>
            <a:ext cx="6349365" cy="5594351"/>
          </a:xfrm>
          <a:prstGeom prst="rect">
            <a:avLst/>
          </a:prstGeom>
        </p:spPr>
      </p:pic>
      <p:sp>
        <p:nvSpPr>
          <p:cNvPr id="5" name="TextBox 4"/>
          <p:cNvSpPr txBox="1"/>
          <p:nvPr/>
        </p:nvSpPr>
        <p:spPr>
          <a:xfrm>
            <a:off x="820973" y="1697182"/>
            <a:ext cx="3751027"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A structured pipeline integrates MRI preprocessing, UNETR baseline, proposed multimodal model, training, and 3D lesion segmentation.</a:t>
            </a:r>
          </a:p>
        </p:txBody>
      </p:sp>
    </p:spTree>
    <p:extLst>
      <p:ext uri="{BB962C8B-B14F-4D97-AF65-F5344CB8AC3E}">
        <p14:creationId xmlns:p14="http://schemas.microsoft.com/office/powerpoint/2010/main" val="92564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8</a:t>
            </a:fld>
            <a:endParaRPr lang="en-US"/>
          </a:p>
        </p:txBody>
      </p:sp>
      <p:sp>
        <p:nvSpPr>
          <p:cNvPr id="5" name="Title 1"/>
          <p:cNvSpPr txBox="1">
            <a:spLocks/>
          </p:cNvSpPr>
          <p:nvPr/>
        </p:nvSpPr>
        <p:spPr>
          <a:xfrm>
            <a:off x="3429000" y="228600"/>
            <a:ext cx="4343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chemeClr val="accent1">
                    <a:lumMod val="75000"/>
                  </a:schemeClr>
                </a:solidFill>
                <a:latin typeface="+mj-lt"/>
                <a:ea typeface="+mj-ea"/>
                <a:cs typeface="+mj-cs"/>
              </a:defRPr>
            </a:lvl1pPr>
          </a:lstStyle>
          <a:p>
            <a:pPr fontAlgn="auto">
              <a:spcAft>
                <a:spcPts val="0"/>
              </a:spcAft>
            </a:pPr>
            <a:r>
              <a:rPr lang="en-US" dirty="0" smtClean="0">
                <a:solidFill>
                  <a:srgbClr val="7030A0"/>
                </a:solidFill>
                <a:latin typeface="Century" panose="02040604050505020304" pitchFamily="18" charset="0"/>
                <a:cs typeface="Times New Roman" pitchFamily="18" charset="0"/>
              </a:rPr>
              <a:t>Methodology </a:t>
            </a:r>
            <a:endParaRPr lang="en-US" dirty="0">
              <a:solidFill>
                <a:srgbClr val="7030A0"/>
              </a:solidFill>
              <a:latin typeface="Century" panose="02040604050505020304"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5257800" y="1164771"/>
            <a:ext cx="4800600" cy="5083629"/>
          </a:xfrm>
          <a:prstGeom prst="rect">
            <a:avLst/>
          </a:prstGeom>
        </p:spPr>
      </p:pic>
      <p:sp>
        <p:nvSpPr>
          <p:cNvPr id="7" name="Content Placeholder 2"/>
          <p:cNvSpPr>
            <a:spLocks noGrp="1"/>
          </p:cNvSpPr>
          <p:nvPr>
            <p:ph sz="quarter" idx="13"/>
          </p:nvPr>
        </p:nvSpPr>
        <p:spPr>
          <a:xfrm>
            <a:off x="609600" y="1676400"/>
            <a:ext cx="3581400" cy="609600"/>
          </a:xfrm>
        </p:spPr>
        <p:txBody>
          <a:bodyPr>
            <a:normAutofit/>
          </a:bodyPr>
          <a:lstStyle/>
          <a:p>
            <a:pPr marL="0" indent="0">
              <a:buFont typeface="Wingdings" pitchFamily="2" charset="2"/>
              <a:buChar char="Ø"/>
            </a:pPr>
            <a:r>
              <a:rPr lang="en-US" sz="2000" dirty="0" smtClean="0">
                <a:solidFill>
                  <a:schemeClr val="tx1"/>
                </a:solidFill>
                <a:latin typeface="Times New Roman" panose="02020603050405020304" pitchFamily="18" charset="0"/>
                <a:cs typeface="Times New Roman" panose="02020603050405020304" pitchFamily="18" charset="0"/>
              </a:rPr>
              <a:t>Proposed Model </a:t>
            </a:r>
            <a:r>
              <a:rPr lang="en-US" sz="2000" dirty="0">
                <a:solidFill>
                  <a:schemeClr val="tx1"/>
                </a:solidFill>
                <a:latin typeface="Times New Roman" panose="02020603050405020304" pitchFamily="18" charset="0"/>
                <a:cs typeface="Times New Roman" panose="02020603050405020304" pitchFamily="18" charset="0"/>
              </a:rPr>
              <a:t>Architecture</a:t>
            </a:r>
          </a:p>
          <a:p>
            <a:pPr marL="0" indent="0" algn="r">
              <a:buNone/>
            </a:pPr>
            <a:endParaRPr lang="en-US" sz="3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18089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xmlns=""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9</a:t>
            </a:fld>
            <a:endParaRPr lang="en-US" dirty="0"/>
          </a:p>
        </p:txBody>
      </p:sp>
      <p:sp>
        <p:nvSpPr>
          <p:cNvPr id="3" name="TextBox 2">
            <a:extLst>
              <a:ext uri="{FF2B5EF4-FFF2-40B4-BE49-F238E27FC236}">
                <a16:creationId xmlns:a16="http://schemas.microsoft.com/office/drawing/2014/main" xmlns=""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8" name="Rectangle 7"/>
          <p:cNvSpPr/>
          <p:nvPr/>
        </p:nvSpPr>
        <p:spPr>
          <a:xfrm>
            <a:off x="1066800" y="1219200"/>
            <a:ext cx="6096000" cy="923330"/>
          </a:xfrm>
          <a:prstGeom prst="rect">
            <a:avLst/>
          </a:prstGeom>
        </p:spPr>
        <p:txBody>
          <a:bodyPr>
            <a:spAutoFit/>
          </a:bodyPr>
          <a:lstStyle/>
          <a:p>
            <a:pPr>
              <a:spcBef>
                <a:spcPts val="0"/>
              </a:spcBef>
              <a:spcAft>
                <a:spcPts val="0"/>
              </a:spcAft>
            </a:pPr>
            <a:r>
              <a:rPr lang="en-US" dirty="0">
                <a:latin typeface="Times New Roman" panose="02020603050405020304" pitchFamily="18" charset="0"/>
                <a:cs typeface="Times New Roman" panose="02020603050405020304" pitchFamily="18" charset="0"/>
              </a:rPr>
              <a:t>Accuracy Performance</a:t>
            </a:r>
          </a:p>
          <a:p>
            <a:r>
              <a:rPr lang="en-US" dirty="0"/>
              <a:t/>
            </a:r>
            <a:br>
              <a:rPr lang="en-US" dirty="0"/>
            </a:b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563824455"/>
              </p:ext>
            </p:extLst>
          </p:nvPr>
        </p:nvGraphicFramePr>
        <p:xfrm>
          <a:off x="1100546" y="1981200"/>
          <a:ext cx="3040380" cy="1866900"/>
        </p:xfrm>
        <a:graphic>
          <a:graphicData uri="http://schemas.openxmlformats.org/drawingml/2006/table">
            <a:tbl>
              <a:tblPr/>
              <a:tblGrid>
                <a:gridCol w="1645920">
                  <a:extLst>
                    <a:ext uri="{9D8B030D-6E8A-4147-A177-3AD203B41FA5}">
                      <a16:colId xmlns="" xmlns:a16="http://schemas.microsoft.com/office/drawing/2014/main" val="255858664"/>
                    </a:ext>
                  </a:extLst>
                </a:gridCol>
                <a:gridCol w="1394460">
                  <a:extLst>
                    <a:ext uri="{9D8B030D-6E8A-4147-A177-3AD203B41FA5}">
                      <a16:colId xmlns="" xmlns:a16="http://schemas.microsoft.com/office/drawing/2014/main" val="3369578800"/>
                    </a:ext>
                  </a:extLst>
                </a:gridCol>
              </a:tblGrid>
              <a:tr h="373380">
                <a:tc>
                  <a:txBody>
                    <a:bodyPr/>
                    <a:lstStyle/>
                    <a:p>
                      <a:pPr algn="ctr" rtl="0" fontAlgn="ctr">
                        <a:spcBef>
                          <a:spcPts val="0"/>
                        </a:spcBef>
                        <a:spcAft>
                          <a:spcPts val="0"/>
                        </a:spcAft>
                      </a:pPr>
                      <a:r>
                        <a:rPr lang="en-US" sz="1400" b="1" i="0" u="none" strike="noStrike" dirty="0">
                          <a:solidFill>
                            <a:srgbClr val="000000"/>
                          </a:solidFill>
                          <a:effectLst/>
                          <a:latin typeface="Times New Roman" panose="02020603050405020304" pitchFamily="18" charset="0"/>
                          <a:cs typeface="Times New Roman" panose="02020603050405020304" pitchFamily="18" charset="0"/>
                        </a:rPr>
                        <a:t>Model</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spcBef>
                          <a:spcPts val="0"/>
                        </a:spcBef>
                        <a:spcAft>
                          <a:spcPts val="0"/>
                        </a:spcAft>
                      </a:pPr>
                      <a:r>
                        <a:rPr lang="en-US" sz="1400" b="1" i="0" u="none" strike="noStrike">
                          <a:solidFill>
                            <a:srgbClr val="000000"/>
                          </a:solidFill>
                          <a:effectLst/>
                          <a:latin typeface="Times New Roman" panose="02020603050405020304" pitchFamily="18" charset="0"/>
                          <a:cs typeface="Times New Roman" panose="02020603050405020304" pitchFamily="18" charset="0"/>
                        </a:rPr>
                        <a:t>Accuracy</a:t>
                      </a:r>
                      <a:endParaRPr lang="en-US" sz="140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extLst>
                  <a:ext uri="{0D108BD9-81ED-4DB2-BD59-A6C34878D82A}">
                    <a16:rowId xmlns="" xmlns:a16="http://schemas.microsoft.com/office/drawing/2014/main" val="1854766167"/>
                  </a:ext>
                </a:extLst>
              </a:tr>
              <a:tr h="335280">
                <a:tc>
                  <a:txBody>
                    <a:bodyPr/>
                    <a:lstStyle/>
                    <a:p>
                      <a:pPr algn="ctr" rtl="0" fontAlgn="ctr">
                        <a:spcBef>
                          <a:spcPts val="0"/>
                        </a:spcBef>
                        <a:spcAft>
                          <a:spcPts val="0"/>
                        </a:spcAft>
                      </a:pPr>
                      <a:r>
                        <a:rPr lang="en-US" sz="14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Proposed Model</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5B9BD5"/>
                    </a:solidFill>
                  </a:tcPr>
                </a:tc>
                <a:tc>
                  <a:txBody>
                    <a:bodyPr/>
                    <a:lstStyle/>
                    <a:p>
                      <a:pPr algn="ctr" rtl="0" fontAlgn="ctr">
                        <a:spcBef>
                          <a:spcPts val="0"/>
                        </a:spcBef>
                        <a:spcAft>
                          <a:spcPts val="0"/>
                        </a:spcAft>
                      </a:pPr>
                      <a:r>
                        <a:rPr lang="en-US" sz="1400" b="0" i="0" u="none" strike="noStrike" dirty="0" smtClean="0">
                          <a:solidFill>
                            <a:srgbClr val="000000"/>
                          </a:solidFill>
                          <a:effectLst/>
                          <a:latin typeface="Times New Roman" panose="02020603050405020304" pitchFamily="18" charset="0"/>
                          <a:cs typeface="Times New Roman" panose="02020603050405020304" pitchFamily="18" charset="0"/>
                        </a:rPr>
                        <a:t>70.09%</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extLst>
                  <a:ext uri="{0D108BD9-81ED-4DB2-BD59-A6C34878D82A}">
                    <a16:rowId xmlns="" xmlns:a16="http://schemas.microsoft.com/office/drawing/2014/main" val="4257916572"/>
                  </a:ext>
                </a:extLst>
              </a:tr>
              <a:tr h="312420">
                <a:tc>
                  <a:txBody>
                    <a:bodyPr/>
                    <a:lstStyle/>
                    <a:p>
                      <a:pPr algn="ctr" rtl="0" fontAlgn="ctr">
                        <a:spcBef>
                          <a:spcPts val="0"/>
                        </a:spcBef>
                        <a:spcAft>
                          <a:spcPts val="0"/>
                        </a:spcAft>
                      </a:pP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UNETR</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5B9BD5"/>
                    </a:solidFill>
                  </a:tcPr>
                </a:tc>
                <a:tc>
                  <a:txBody>
                    <a:bodyPr/>
                    <a:lstStyle/>
                    <a:p>
                      <a:pPr algn="ctr" rtl="0" fontAlgn="ctr">
                        <a:spcBef>
                          <a:spcPts val="0"/>
                        </a:spcBef>
                        <a:spcAft>
                          <a:spcPts val="0"/>
                        </a:spcAft>
                      </a:pPr>
                      <a:r>
                        <a:rPr lang="en-US" sz="1400" b="0" i="0" u="none" strike="noStrike" dirty="0" smtClean="0">
                          <a:solidFill>
                            <a:srgbClr val="000000"/>
                          </a:solidFill>
                          <a:effectLst/>
                          <a:latin typeface="Times New Roman" panose="02020603050405020304" pitchFamily="18" charset="0"/>
                          <a:cs typeface="Times New Roman" panose="02020603050405020304" pitchFamily="18" charset="0"/>
                        </a:rPr>
                        <a:t>71.23%</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E9EFF7"/>
                    </a:solidFill>
                  </a:tcPr>
                </a:tc>
                <a:extLst>
                  <a:ext uri="{0D108BD9-81ED-4DB2-BD59-A6C34878D82A}">
                    <a16:rowId xmlns="" xmlns:a16="http://schemas.microsoft.com/office/drawing/2014/main" val="1469434186"/>
                  </a:ext>
                </a:extLst>
              </a:tr>
              <a:tr h="335280">
                <a:tc>
                  <a:txBody>
                    <a:bodyPr/>
                    <a:lstStyle/>
                    <a:p>
                      <a:pPr algn="ctr" rtl="0" fontAlgn="ctr">
                        <a:spcBef>
                          <a:spcPts val="0"/>
                        </a:spcBef>
                        <a:spcAft>
                          <a:spcPts val="0"/>
                        </a:spcAft>
                      </a:pP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3D Attention</a:t>
                      </a:r>
                    </a:p>
                    <a:p>
                      <a:pPr algn="ctr" rtl="0" fontAlgn="ctr">
                        <a:spcBef>
                          <a:spcPts val="0"/>
                        </a:spcBef>
                        <a:spcAft>
                          <a:spcPts val="0"/>
                        </a:spcAft>
                      </a:pP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 U-Net</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5B9BD5"/>
                    </a:solidFill>
                  </a:tcPr>
                </a:tc>
                <a:tc>
                  <a:txBody>
                    <a:bodyPr/>
                    <a:lstStyle/>
                    <a:p>
                      <a:pPr algn="ctr" rtl="0" fontAlgn="ctr">
                        <a:spcBef>
                          <a:spcPts val="0"/>
                        </a:spcBef>
                        <a:spcAft>
                          <a:spcPts val="0"/>
                        </a:spcAft>
                      </a:pPr>
                      <a:r>
                        <a:rPr lang="en-US" sz="1400" b="0" i="0" u="none" strike="noStrike" dirty="0" smtClean="0">
                          <a:solidFill>
                            <a:srgbClr val="000000"/>
                          </a:solidFill>
                          <a:effectLst/>
                          <a:latin typeface="Times New Roman" panose="02020603050405020304" pitchFamily="18" charset="0"/>
                          <a:cs typeface="Times New Roman" panose="02020603050405020304" pitchFamily="18" charset="0"/>
                        </a:rPr>
                        <a:t>67.59%</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extLst>
                  <a:ext uri="{0D108BD9-81ED-4DB2-BD59-A6C34878D82A}">
                    <a16:rowId xmlns="" xmlns:a16="http://schemas.microsoft.com/office/drawing/2014/main" val="3113566739"/>
                  </a:ext>
                </a:extLst>
              </a:tr>
              <a:tr h="327660">
                <a:tc>
                  <a:txBody>
                    <a:bodyPr/>
                    <a:lstStyle/>
                    <a:p>
                      <a:pPr algn="ctr" rtl="0" fontAlgn="ctr">
                        <a:spcBef>
                          <a:spcPts val="0"/>
                        </a:spcBef>
                        <a:spcAft>
                          <a:spcPts val="0"/>
                        </a:spcAft>
                      </a:pPr>
                      <a:r>
                        <a:rPr lang="en-US" sz="1400" b="1" i="0" u="none" strike="noStrike" dirty="0" smtClean="0">
                          <a:solidFill>
                            <a:srgbClr val="000000"/>
                          </a:solidFill>
                          <a:effectLst/>
                          <a:latin typeface="Times New Roman" panose="02020603050405020304" pitchFamily="18" charset="0"/>
                          <a:cs typeface="Times New Roman" panose="02020603050405020304" pitchFamily="18" charset="0"/>
                        </a:rPr>
                        <a:t>3d U-Net</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5B9BD5"/>
                    </a:solidFill>
                  </a:tcPr>
                </a:tc>
                <a:tc>
                  <a:txBody>
                    <a:bodyPr/>
                    <a:lstStyle/>
                    <a:p>
                      <a:pPr algn="ctr" rtl="0" fontAlgn="ctr">
                        <a:spcBef>
                          <a:spcPts val="0"/>
                        </a:spcBef>
                        <a:spcAft>
                          <a:spcPts val="0"/>
                        </a:spcAft>
                      </a:pPr>
                      <a:r>
                        <a:rPr lang="en-US" sz="1400" b="0" i="0" u="none" strike="noStrike" dirty="0" smtClean="0">
                          <a:solidFill>
                            <a:srgbClr val="000000"/>
                          </a:solidFill>
                          <a:effectLst/>
                          <a:latin typeface="Times New Roman" panose="02020603050405020304" pitchFamily="18" charset="0"/>
                          <a:cs typeface="Times New Roman" panose="02020603050405020304" pitchFamily="18" charset="0"/>
                        </a:rPr>
                        <a:t>70.21%</a:t>
                      </a:r>
                      <a:endParaRPr lang="en-US" sz="1400" dirty="0">
                        <a:effectLst/>
                        <a:latin typeface="Times New Roman" panose="02020603050405020304" pitchFamily="18" charset="0"/>
                        <a:cs typeface="Times New Roman" panose="02020603050405020304" pitchFamily="18" charset="0"/>
                      </a:endParaRPr>
                    </a:p>
                  </a:txBody>
                  <a:tcPr marL="53340" marR="5334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E9EFF7"/>
                    </a:solidFill>
                  </a:tcPr>
                </a:tc>
                <a:extLst>
                  <a:ext uri="{0D108BD9-81ED-4DB2-BD59-A6C34878D82A}">
                    <a16:rowId xmlns="" xmlns:a16="http://schemas.microsoft.com/office/drawing/2014/main" val="2181738812"/>
                  </a:ext>
                </a:extLst>
              </a:tr>
            </a:tbl>
          </a:graphicData>
        </a:graphic>
      </p:graphicFrame>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1420891"/>
            <a:ext cx="6908697" cy="4495800"/>
          </a:xfrm>
          <a:prstGeom prst="rect">
            <a:avLst/>
          </a:prstGeom>
        </p:spPr>
      </p:pic>
    </p:spTree>
    <p:extLst>
      <p:ext uri="{BB962C8B-B14F-4D97-AF65-F5344CB8AC3E}">
        <p14:creationId xmlns:p14="http://schemas.microsoft.com/office/powerpoint/2010/main" val="165956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10</a:t>
            </a:fld>
            <a:endParaRPr lang="en-US"/>
          </a:p>
        </p:txBody>
      </p:sp>
      <p:sp>
        <p:nvSpPr>
          <p:cNvPr id="5" name="Title 1">
            <a:extLst>
              <a:ext uri="{FF2B5EF4-FFF2-40B4-BE49-F238E27FC236}">
                <a16:creationId xmlns:a16="http://schemas.microsoft.com/office/drawing/2014/main" xmlns="" id="{6D611926-D2A5-F445-0117-A4074CC94842}"/>
              </a:ext>
            </a:extLst>
          </p:cNvPr>
          <p:cNvSpPr>
            <a:spLocks noGrp="1"/>
          </p:cNvSpPr>
          <p:nvPr>
            <p:ph type="title"/>
          </p:nvPr>
        </p:nvSpPr>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pic>
        <p:nvPicPr>
          <p:cNvPr id="6" name="Picture 5"/>
          <p:cNvPicPr>
            <a:picLocks noChangeAspect="1"/>
          </p:cNvPicPr>
          <p:nvPr/>
        </p:nvPicPr>
        <p:blipFill>
          <a:blip r:embed="rId2"/>
          <a:stretch>
            <a:fillRect/>
          </a:stretch>
        </p:blipFill>
        <p:spPr>
          <a:xfrm>
            <a:off x="685800" y="1524000"/>
            <a:ext cx="6172200" cy="325311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4550" y="1417638"/>
            <a:ext cx="4387850" cy="4007400"/>
          </a:xfrm>
          <a:prstGeom prst="rect">
            <a:avLst/>
          </a:prstGeom>
        </p:spPr>
      </p:pic>
    </p:spTree>
    <p:extLst>
      <p:ext uri="{BB962C8B-B14F-4D97-AF65-F5344CB8AC3E}">
        <p14:creationId xmlns:p14="http://schemas.microsoft.com/office/powerpoint/2010/main" val="2338225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xmlns="" id="{1E154D71-E901-049B-93F8-CAD5BC299B0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11</a:t>
            </a:fld>
            <a:endParaRPr lang="en-US" dirty="0"/>
          </a:p>
        </p:txBody>
      </p:sp>
      <p:sp>
        <p:nvSpPr>
          <p:cNvPr id="3" name="TextBox 2">
            <a:extLst>
              <a:ext uri="{FF2B5EF4-FFF2-40B4-BE49-F238E27FC236}">
                <a16:creationId xmlns:a16="http://schemas.microsoft.com/office/drawing/2014/main" xmlns="" id="{BD882494-1CF7-C6C6-FB3F-1E5CF30DAEE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8" name="Content Placeholder 2">
            <a:extLst>
              <a:ext uri="{FF2B5EF4-FFF2-40B4-BE49-F238E27FC236}">
                <a16:creationId xmlns="" xmlns:a16="http://schemas.microsoft.com/office/drawing/2014/main" id="{21DC6B71-21FD-04D6-556B-38CE32A5EA29}"/>
              </a:ext>
            </a:extLst>
          </p:cNvPr>
          <p:cNvSpPr>
            <a:spLocks noGrp="1"/>
          </p:cNvSpPr>
          <p:nvPr>
            <p:ph sz="quarter" idx="13"/>
          </p:nvPr>
        </p:nvSpPr>
        <p:spPr>
          <a:xfrm>
            <a:off x="609600" y="1116956"/>
            <a:ext cx="11152695" cy="4979043"/>
          </a:xfrm>
        </p:spPr>
        <p:txBody>
          <a:bodyPr>
            <a:noAutofit/>
          </a:bodyPr>
          <a:lstStyle/>
          <a:p>
            <a:r>
              <a:rPr lang="en-US" sz="1800" b="1" dirty="0">
                <a:solidFill>
                  <a:schemeClr val="tx1"/>
                </a:solidFill>
                <a:latin typeface="Times New Roman" panose="02020603050405020304" pitchFamily="18" charset="0"/>
                <a:cs typeface="Times New Roman" panose="02020603050405020304" pitchFamily="18" charset="0"/>
              </a:rPr>
              <a:t>FLAIR-Preserving Multimodal </a:t>
            </a:r>
            <a:r>
              <a:rPr lang="en-US" sz="1800" b="1" dirty="0" smtClean="0">
                <a:solidFill>
                  <a:schemeClr val="tx1"/>
                </a:solidFill>
                <a:latin typeface="Times New Roman" panose="02020603050405020304" pitchFamily="18" charset="0"/>
                <a:cs typeface="Times New Roman" panose="02020603050405020304" pitchFamily="18" charset="0"/>
              </a:rPr>
              <a:t>Architecture:</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Uses FLAIR as the primary modality while incorporating T1- and T2-weighted MRI as complementary inputs. </a:t>
            </a:r>
          </a:p>
          <a:p>
            <a:r>
              <a:rPr lang="en-US" sz="1800" b="1" dirty="0">
                <a:solidFill>
                  <a:schemeClr val="tx1"/>
                </a:solidFill>
                <a:latin typeface="Times New Roman" panose="02020603050405020304" pitchFamily="18" charset="0"/>
                <a:cs typeface="Times New Roman" panose="02020603050405020304" pitchFamily="18" charset="0"/>
              </a:rPr>
              <a:t>Gated Feature </a:t>
            </a:r>
            <a:r>
              <a:rPr lang="en-US" sz="1800" b="1" dirty="0" smtClean="0">
                <a:solidFill>
                  <a:schemeClr val="tx1"/>
                </a:solidFill>
                <a:latin typeface="Times New Roman" panose="02020603050405020304" pitchFamily="18" charset="0"/>
                <a:cs typeface="Times New Roman" panose="02020603050405020304" pitchFamily="18" charset="0"/>
              </a:rPr>
              <a:t>Fusion:</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Introduces a gating mechanism to selectively control how much auxiliary T1/T2 information contributes to the primary FLAIR representation. </a:t>
            </a:r>
          </a:p>
          <a:p>
            <a:r>
              <a:rPr lang="en-US" sz="1800" b="1" dirty="0">
                <a:solidFill>
                  <a:schemeClr val="tx1"/>
                </a:solidFill>
                <a:latin typeface="Times New Roman" panose="02020603050405020304" pitchFamily="18" charset="0"/>
                <a:cs typeface="Times New Roman" panose="02020603050405020304" pitchFamily="18" charset="0"/>
              </a:rPr>
              <a:t>Bounded Residual </a:t>
            </a:r>
            <a:r>
              <a:rPr lang="en-US" sz="1800" b="1" dirty="0" smtClean="0">
                <a:solidFill>
                  <a:schemeClr val="tx1"/>
                </a:solidFill>
                <a:latin typeface="Times New Roman" panose="02020603050405020304" pitchFamily="18" charset="0"/>
                <a:cs typeface="Times New Roman" panose="02020603050405020304" pitchFamily="18" charset="0"/>
              </a:rPr>
              <a:t>Correction:</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Uses bounded residual learning to refine the FLAIR-based features without replacing the primary lesion representation. </a:t>
            </a:r>
          </a:p>
          <a:p>
            <a:r>
              <a:rPr lang="en-US" sz="1800" b="1" dirty="0">
                <a:solidFill>
                  <a:schemeClr val="tx1"/>
                </a:solidFill>
                <a:latin typeface="Times New Roman" panose="02020603050405020304" pitchFamily="18" charset="0"/>
                <a:cs typeface="Times New Roman" panose="02020603050405020304" pitchFamily="18" charset="0"/>
              </a:rPr>
              <a:t>Lesion-Level Performance </a:t>
            </a:r>
            <a:r>
              <a:rPr lang="en-US" sz="1800" b="1" dirty="0" smtClean="0">
                <a:solidFill>
                  <a:schemeClr val="tx1"/>
                </a:solidFill>
                <a:latin typeface="Times New Roman" panose="02020603050405020304" pitchFamily="18" charset="0"/>
                <a:cs typeface="Times New Roman" panose="02020603050405020304" pitchFamily="18" charset="0"/>
              </a:rPr>
              <a:t>Analysis:</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Goes beyond overall Dice by analyzing individual lesions according to size and FLAIR brightness, focusing on difficult-to-detect lesions. </a:t>
            </a:r>
          </a:p>
          <a:p>
            <a:r>
              <a:rPr lang="en-US" sz="1800" b="1" dirty="0">
                <a:solidFill>
                  <a:schemeClr val="tx1"/>
                </a:solidFill>
                <a:latin typeface="Times New Roman" panose="02020603050405020304" pitchFamily="18" charset="0"/>
                <a:cs typeface="Times New Roman" panose="02020603050405020304" pitchFamily="18" charset="0"/>
              </a:rPr>
              <a:t>Rescue/Harm </a:t>
            </a:r>
            <a:r>
              <a:rPr lang="en-US" sz="1800" b="1" dirty="0" smtClean="0">
                <a:solidFill>
                  <a:schemeClr val="tx1"/>
                </a:solidFill>
                <a:latin typeface="Times New Roman" panose="02020603050405020304" pitchFamily="18" charset="0"/>
                <a:cs typeface="Times New Roman" panose="02020603050405020304" pitchFamily="18" charset="0"/>
              </a:rPr>
              <a:t>Analysis:</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Directly compares lesions detected or missed by the UNETR baseline and the proposed model to identify which lesions are recovered through multimodal refinement. </a:t>
            </a:r>
          </a:p>
          <a:p>
            <a:r>
              <a:rPr lang="en-US" sz="1800" b="1" dirty="0">
                <a:solidFill>
                  <a:schemeClr val="tx1"/>
                </a:solidFill>
                <a:latin typeface="Times New Roman" panose="02020603050405020304" pitchFamily="18" charset="0"/>
                <a:cs typeface="Times New Roman" panose="02020603050405020304" pitchFamily="18" charset="0"/>
              </a:rPr>
              <a:t>Controlled Multimodal </a:t>
            </a:r>
            <a:r>
              <a:rPr lang="en-US" sz="1800" b="1" dirty="0" smtClean="0">
                <a:solidFill>
                  <a:schemeClr val="tx1"/>
                </a:solidFill>
                <a:latin typeface="Times New Roman" panose="02020603050405020304" pitchFamily="18" charset="0"/>
                <a:cs typeface="Times New Roman" panose="02020603050405020304" pitchFamily="18" charset="0"/>
              </a:rPr>
              <a:t>Evaluation:</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Compares a FLAIR-only UNETR baseline with the multimodal model under the same patient-level test setting, allowing the contribution of multimodal refinement to be examined. </a:t>
            </a:r>
          </a:p>
        </p:txBody>
      </p:sp>
    </p:spTree>
    <p:extLst>
      <p:ext uri="{BB962C8B-B14F-4D97-AF65-F5344CB8AC3E}">
        <p14:creationId xmlns:p14="http://schemas.microsoft.com/office/powerpoint/2010/main" val="920274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C68F151-7ED2-C606-99FB-D15E7A10395B}"/>
              </a:ext>
            </a:extLst>
          </p:cNvPr>
          <p:cNvSpPr>
            <a:spLocks noGrp="1"/>
          </p:cNvSpPr>
          <p:nvPr>
            <p:ph type="title"/>
          </p:nvPr>
        </p:nvSpPr>
        <p:spPr>
          <a:xfrm>
            <a:off x="1371600" y="307151"/>
            <a:ext cx="9448800" cy="685800"/>
          </a:xfrm>
        </p:spPr>
        <p:txBody>
          <a:bodyPr>
            <a:normAutofit fontScale="90000"/>
          </a:bodyPr>
          <a:lstStyle/>
          <a:p>
            <a:r>
              <a:rPr lang="en-US" dirty="0">
                <a:solidFill>
                  <a:srgbClr val="7030A0"/>
                </a:solidFill>
                <a:latin typeface="Times New Roman"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xmlns=""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12</a:t>
            </a:fld>
            <a:endParaRPr lang="en-US" dirty="0"/>
          </a:p>
        </p:txBody>
      </p:sp>
      <p:sp>
        <p:nvSpPr>
          <p:cNvPr id="3" name="TextBox 2">
            <a:extLst>
              <a:ext uri="{FF2B5EF4-FFF2-40B4-BE49-F238E27FC236}">
                <a16:creationId xmlns:a16="http://schemas.microsoft.com/office/drawing/2014/main" xmlns=""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p:cNvPicPr>
            <a:picLocks noChangeAspect="1"/>
          </p:cNvPicPr>
          <p:nvPr/>
        </p:nvPicPr>
        <p:blipFill>
          <a:blip r:embed="rId2"/>
          <a:stretch>
            <a:fillRect/>
          </a:stretch>
        </p:blipFill>
        <p:spPr>
          <a:xfrm>
            <a:off x="518160" y="1999272"/>
            <a:ext cx="11423904" cy="3503053"/>
          </a:xfrm>
          <a:prstGeom prst="rect">
            <a:avLst/>
          </a:prstGeom>
        </p:spPr>
      </p:pic>
      <p:sp>
        <p:nvSpPr>
          <p:cNvPr id="6" name="TextBox 5"/>
          <p:cNvSpPr txBox="1"/>
          <p:nvPr/>
        </p:nvSpPr>
        <p:spPr>
          <a:xfrm>
            <a:off x="609600" y="1146574"/>
            <a:ext cx="10972800"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Representative 3D MRI samples from the MSLesSeg dataset, including FLAIR, T1-weighted, T2-weighted images, and the corresponding lesion mask.</a:t>
            </a:r>
          </a:p>
        </p:txBody>
      </p:sp>
      <p:sp>
        <p:nvSpPr>
          <p:cNvPr id="7" name="TextBox 6"/>
          <p:cNvSpPr txBox="1"/>
          <p:nvPr/>
        </p:nvSpPr>
        <p:spPr>
          <a:xfrm>
            <a:off x="518160" y="5762969"/>
            <a:ext cx="10835640" cy="369332"/>
          </a:xfrm>
          <a:prstGeom prst="rect">
            <a:avLst/>
          </a:prstGeom>
          <a:noFill/>
        </p:spPr>
        <p:txBody>
          <a:bodyPr wrap="square" rtlCol="0">
            <a:spAutoFit/>
          </a:bodyPr>
          <a:lstStyle/>
          <a:p>
            <a:r>
              <a:rPr lang="en-US" dirty="0" smtClean="0"/>
              <a:t>Cloud flare </a:t>
            </a:r>
            <a:r>
              <a:rPr lang="en-US" dirty="0"/>
              <a:t>web link: https://drive.google.com/drive/folders/1fWJRcZzo4tRTPWTay6KNUCGY4RQoGBoQ</a:t>
            </a:r>
          </a:p>
        </p:txBody>
      </p:sp>
    </p:spTree>
    <p:extLst>
      <p:ext uri="{BB962C8B-B14F-4D97-AF65-F5344CB8AC3E}">
        <p14:creationId xmlns:p14="http://schemas.microsoft.com/office/powerpoint/2010/main" val="4192927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AACCF1-4663-0FAC-E557-C8C860184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8DB699C-3280-7E27-A53B-6B90D91ADB53}"/>
              </a:ext>
            </a:extLst>
          </p:cNvPr>
          <p:cNvSpPr>
            <a:spLocks noGrp="1"/>
          </p:cNvSpPr>
          <p:nvPr>
            <p:ph type="title"/>
          </p:nvPr>
        </p:nvSpPr>
        <p:spPr>
          <a:xfrm>
            <a:off x="1638298" y="76200"/>
            <a:ext cx="89154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Web Interface of Image Enhancement</a:t>
            </a:r>
            <a:endParaRPr lang="en-US" dirty="0">
              <a:solidFill>
                <a:srgbClr val="7030A0"/>
              </a:solidFill>
            </a:endParaRPr>
          </a:p>
        </p:txBody>
      </p:sp>
      <p:sp>
        <p:nvSpPr>
          <p:cNvPr id="4" name="Slide Number Placeholder 3">
            <a:extLst>
              <a:ext uri="{FF2B5EF4-FFF2-40B4-BE49-F238E27FC236}">
                <a16:creationId xmlns:a16="http://schemas.microsoft.com/office/drawing/2014/main" xmlns=""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13</a:t>
            </a:fld>
            <a:endParaRPr lang="en-US" dirty="0"/>
          </a:p>
        </p:txBody>
      </p:sp>
      <p:sp>
        <p:nvSpPr>
          <p:cNvPr id="3" name="TextBox 2">
            <a:extLst>
              <a:ext uri="{FF2B5EF4-FFF2-40B4-BE49-F238E27FC236}">
                <a16:creationId xmlns:a16="http://schemas.microsoft.com/office/drawing/2014/main" xmlns=""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66800" y="1066800"/>
            <a:ext cx="4876165" cy="3280410"/>
          </a:xfrm>
          <a:prstGeom prst="rect">
            <a:avLst/>
          </a:prstGeom>
        </p:spPr>
      </p:pic>
      <p:sp>
        <p:nvSpPr>
          <p:cNvPr id="6" name="Rectangle 5"/>
          <p:cNvSpPr/>
          <p:nvPr/>
        </p:nvSpPr>
        <p:spPr>
          <a:xfrm>
            <a:off x="2057400" y="4469448"/>
            <a:ext cx="2590800" cy="646331"/>
          </a:xfrm>
          <a:prstGeom prst="rect">
            <a:avLst/>
          </a:prstGeom>
        </p:spPr>
        <p:txBody>
          <a:bodyPr wrap="square">
            <a:spAutoFit/>
          </a:bodyPr>
          <a:lstStyle/>
          <a:p>
            <a:pPr algn="ctr" fontAlgn="ctr">
              <a:spcBef>
                <a:spcPts val="0"/>
              </a:spcBef>
              <a:spcAft>
                <a:spcPts val="0"/>
              </a:spcAft>
            </a:pPr>
            <a:r>
              <a:rPr lang="en-US" b="1" dirty="0" smtClean="0">
                <a:latin typeface="Times New Roman" panose="02020603050405020304" pitchFamily="18" charset="0"/>
                <a:cs typeface="Times New Roman" panose="02020603050405020304" pitchFamily="18" charset="0"/>
              </a:rPr>
              <a:t>UNETR Visualization </a:t>
            </a:r>
            <a:r>
              <a:rPr lang="en-US" b="1" dirty="0">
                <a:latin typeface="Times New Roman" panose="02020603050405020304" pitchFamily="18" charset="0"/>
                <a:cs typeface="Times New Roman" panose="02020603050405020304" pitchFamily="18" charset="0"/>
              </a:rPr>
              <a:t>of </a:t>
            </a:r>
            <a:r>
              <a:rPr lang="en-US" b="1" dirty="0" smtClean="0">
                <a:latin typeface="Times New Roman" panose="02020603050405020304" pitchFamily="18" charset="0"/>
                <a:cs typeface="Times New Roman" panose="02020603050405020304" pitchFamily="18" charset="0"/>
              </a:rPr>
              <a:t>MS lesions by only flair</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7257732" y="4502105"/>
            <a:ext cx="3048000" cy="646331"/>
          </a:xfrm>
          <a:prstGeom prst="rect">
            <a:avLst/>
          </a:prstGeom>
        </p:spPr>
        <p:txBody>
          <a:bodyPr wrap="square">
            <a:spAutoFit/>
          </a:bodyPr>
          <a:lstStyle/>
          <a:p>
            <a:pPr algn="ctr" fontAlgn="ctr">
              <a:spcBef>
                <a:spcPts val="0"/>
              </a:spcBef>
              <a:spcAft>
                <a:spcPts val="0"/>
              </a:spcAft>
            </a:pPr>
            <a:r>
              <a:rPr lang="en-US" b="1" dirty="0" smtClean="0">
                <a:latin typeface="Times New Roman" panose="02020603050405020304" pitchFamily="18" charset="0"/>
                <a:cs typeface="Times New Roman" panose="02020603050405020304" pitchFamily="18" charset="0"/>
              </a:rPr>
              <a:t>Proposed Model Visualization by T1+T2+flair</a:t>
            </a:r>
            <a:endParaRPr lang="en-US"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6324600" y="1066800"/>
            <a:ext cx="4914265" cy="3280410"/>
          </a:xfrm>
          <a:prstGeom prst="rect">
            <a:avLst/>
          </a:prstGeom>
        </p:spPr>
      </p:pic>
      <p:sp>
        <p:nvSpPr>
          <p:cNvPr id="9" name="TextBox 8"/>
          <p:cNvSpPr txBox="1"/>
          <p:nvPr/>
        </p:nvSpPr>
        <p:spPr>
          <a:xfrm>
            <a:off x="1066800" y="5336632"/>
            <a:ext cx="8153400" cy="369332"/>
          </a:xfrm>
          <a:prstGeom prst="rect">
            <a:avLst/>
          </a:prstGeom>
          <a:noFill/>
        </p:spPr>
        <p:txBody>
          <a:bodyPr wrap="square" rtlCol="0">
            <a:spAutoFit/>
          </a:bodyPr>
          <a:lstStyle/>
          <a:p>
            <a:r>
              <a:rPr lang="en-US" dirty="0" smtClean="0"/>
              <a:t>Cloud flare </a:t>
            </a:r>
            <a:r>
              <a:rPr lang="en-US" dirty="0"/>
              <a:t>web link: https://acdbentity-counting-sara-fiction.trycloudflare.com</a:t>
            </a:r>
          </a:p>
        </p:txBody>
      </p:sp>
    </p:spTree>
    <p:extLst>
      <p:ext uri="{BB962C8B-B14F-4D97-AF65-F5344CB8AC3E}">
        <p14:creationId xmlns:p14="http://schemas.microsoft.com/office/powerpoint/2010/main" val="1685071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14</a:t>
            </a:fld>
            <a:endParaRPr lang="en-US" dirty="0"/>
          </a:p>
        </p:txBody>
      </p:sp>
      <p:sp>
        <p:nvSpPr>
          <p:cNvPr id="5" name="TextBox 4">
            <a:extLst>
              <a:ext uri="{FF2B5EF4-FFF2-40B4-BE49-F238E27FC236}">
                <a16:creationId xmlns:a16="http://schemas.microsoft.com/office/drawing/2014/main" xmlns="" id="{19B37B8D-F57A-2BA3-3A76-E3DD8C73097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p:cNvSpPr>
            <a:spLocks noGrp="1"/>
          </p:cNvSpPr>
          <p:nvPr>
            <p:ph sz="quarter" idx="13"/>
          </p:nvPr>
        </p:nvSpPr>
        <p:spPr>
          <a:xfrm>
            <a:off x="533400" y="1676400"/>
            <a:ext cx="11049000" cy="3962400"/>
          </a:xfrm>
        </p:spPr>
        <p:txBody>
          <a:bodyPr>
            <a:normAutofit/>
          </a:bodyPr>
          <a:lstStyle/>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This study developed an automated three-dimensional MS lesion segmentation framework using the MSLesSeg dataset with N4 bias-field correction and non-zero voxel Z-score normalization. A FLAIR-only UNETR model was established as the baseline, while the proposed model used FLAIR as the primary modality and incorporated T1- and T2-weighted MRI through gated feature fusion and bounded residual correction. In the overall evaluation, UNETR achieved the highest global Dice of 71.23%, whereas the proposed model achieved the highest global Recall of 74.06%. Furthermore, lesion-level analysis showed that the proposed model improved mean lesion recall from 42.00% to 48.30% and increased lesion detection rate from 66.13% to 71.62%. These findings indicate that the proposed multimodal approach can improve sensitivity to challenging MS lesions, although further improvement is needed to reduce false-positive predictions and enhance overall segmentation accuracy. </a:t>
            </a:r>
          </a:p>
        </p:txBody>
      </p:sp>
    </p:spTree>
    <p:extLst>
      <p:ext uri="{BB962C8B-B14F-4D97-AF65-F5344CB8AC3E}">
        <p14:creationId xmlns:p14="http://schemas.microsoft.com/office/powerpoint/2010/main" val="287370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xmlns="" id="{F97097F1-FADA-324C-E90E-73FFCAEF9034}"/>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15</a:t>
            </a:fld>
            <a:endParaRPr lang="en-US" dirty="0"/>
          </a:p>
        </p:txBody>
      </p:sp>
      <p:sp>
        <p:nvSpPr>
          <p:cNvPr id="5" name="TextBox 4">
            <a:extLst>
              <a:ext uri="{FF2B5EF4-FFF2-40B4-BE49-F238E27FC236}">
                <a16:creationId xmlns:a16="http://schemas.microsoft.com/office/drawing/2014/main" xmlns="" id="{908FB2A1-531C-6EF4-8574-EB5912211BF6}"/>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a:extLst>
              <a:ext uri="{FF2B5EF4-FFF2-40B4-BE49-F238E27FC236}">
                <a16:creationId xmlns="" xmlns:a16="http://schemas.microsoft.com/office/drawing/2014/main" id="{7540A3B3-C4C8-D937-C000-D8A95AA34084}"/>
              </a:ext>
            </a:extLst>
          </p:cNvPr>
          <p:cNvSpPr>
            <a:spLocks noGrp="1"/>
          </p:cNvSpPr>
          <p:nvPr>
            <p:ph sz="quarter" idx="13"/>
          </p:nvPr>
        </p:nvSpPr>
        <p:spPr>
          <a:xfrm>
            <a:off x="533400" y="1676400"/>
            <a:ext cx="11277600" cy="4953000"/>
          </a:xfrm>
        </p:spPr>
        <p:txBody>
          <a:bodyPr>
            <a:noAutofit/>
          </a:bodyPr>
          <a:lstStyle/>
          <a:p>
            <a:r>
              <a:rPr lang="en-US" sz="1800" dirty="0">
                <a:solidFill>
                  <a:schemeClr val="tx1"/>
                </a:solidFill>
                <a:latin typeface="Times New Roman" panose="02020603050405020304" pitchFamily="18" charset="0"/>
                <a:cs typeface="Times New Roman" panose="02020603050405020304" pitchFamily="18" charset="0"/>
              </a:rPr>
              <a:t>[1]	J. Zhang </a:t>
            </a:r>
            <a:r>
              <a:rPr lang="en-US" sz="1800" i="1" dirty="0">
                <a:solidFill>
                  <a:schemeClr val="tx1"/>
                </a:solidFill>
                <a:latin typeface="Times New Roman" panose="02020603050405020304" pitchFamily="18" charset="0"/>
                <a:cs typeface="Times New Roman" panose="02020603050405020304" pitchFamily="18" charset="0"/>
              </a:rPr>
              <a:t>et al.</a:t>
            </a:r>
            <a:r>
              <a:rPr lang="en-US" sz="1800" dirty="0">
                <a:solidFill>
                  <a:schemeClr val="tx1"/>
                </a:solidFill>
                <a:latin typeface="Times New Roman" panose="02020603050405020304" pitchFamily="18" charset="0"/>
                <a:cs typeface="Times New Roman" panose="02020603050405020304" pitchFamily="18" charset="0"/>
              </a:rPr>
              <a:t>, “UNISELF: A unified network with instance normalization and self-</a:t>
            </a:r>
            <a:r>
              <a:rPr lang="en-US" sz="1800" dirty="0" err="1">
                <a:solidFill>
                  <a:schemeClr val="tx1"/>
                </a:solidFill>
                <a:latin typeface="Times New Roman" panose="02020603050405020304" pitchFamily="18" charset="0"/>
                <a:cs typeface="Times New Roman" panose="02020603050405020304" pitchFamily="18" charset="0"/>
              </a:rPr>
              <a:t>ensembled</a:t>
            </a:r>
            <a:r>
              <a:rPr lang="en-US" sz="1800" dirty="0">
                <a:solidFill>
                  <a:schemeClr val="tx1"/>
                </a:solidFill>
                <a:latin typeface="Times New Roman" panose="02020603050405020304" pitchFamily="18" charset="0"/>
                <a:cs typeface="Times New Roman" panose="02020603050405020304" pitchFamily="18" charset="0"/>
              </a:rPr>
              <a:t> lesion fusion for multiple sclerosis lesion segmentation,” </a:t>
            </a:r>
            <a:r>
              <a:rPr lang="en-US" sz="1800" i="1" dirty="0">
                <a:solidFill>
                  <a:schemeClr val="tx1"/>
                </a:solidFill>
                <a:latin typeface="Times New Roman" panose="02020603050405020304" pitchFamily="18" charset="0"/>
                <a:cs typeface="Times New Roman" panose="02020603050405020304" pitchFamily="18" charset="0"/>
              </a:rPr>
              <a:t>Med. Image Anal.</a:t>
            </a:r>
            <a:r>
              <a:rPr lang="en-US" sz="1800" dirty="0">
                <a:solidFill>
                  <a:schemeClr val="tx1"/>
                </a:solidFill>
                <a:latin typeface="Times New Roman" panose="02020603050405020304" pitchFamily="18" charset="0"/>
                <a:cs typeface="Times New Roman" panose="02020603050405020304" pitchFamily="18" charset="0"/>
              </a:rPr>
              <a:t>, vol. 109, p. 103954, Mar. 2026, </a:t>
            </a:r>
            <a:r>
              <a:rPr lang="en-US" sz="1800" dirty="0" err="1">
                <a:solidFill>
                  <a:schemeClr val="tx1"/>
                </a:solidFill>
                <a:latin typeface="Times New Roman" panose="02020603050405020304" pitchFamily="18" charset="0"/>
                <a:cs typeface="Times New Roman" panose="02020603050405020304" pitchFamily="18" charset="0"/>
              </a:rPr>
              <a:t>doi</a:t>
            </a:r>
            <a:r>
              <a:rPr lang="en-US" sz="1800" dirty="0">
                <a:solidFill>
                  <a:schemeClr val="tx1"/>
                </a:solidFill>
                <a:latin typeface="Times New Roman" panose="02020603050405020304" pitchFamily="18" charset="0"/>
                <a:cs typeface="Times New Roman" panose="02020603050405020304" pitchFamily="18" charset="0"/>
              </a:rPr>
              <a:t>: 10.1016/J.MEDIA.2026.103954</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[2]	S. </a:t>
            </a:r>
            <a:r>
              <a:rPr lang="en-US" sz="1800" dirty="0" err="1">
                <a:solidFill>
                  <a:schemeClr val="tx1"/>
                </a:solidFill>
                <a:latin typeface="Times New Roman" panose="02020603050405020304" pitchFamily="18" charset="0"/>
                <a:cs typeface="Times New Roman" panose="02020603050405020304" pitchFamily="18" charset="0"/>
              </a:rPr>
              <a:t>Hindawi</a:t>
            </a:r>
            <a:r>
              <a:rPr lang="en-US" sz="1800" dirty="0">
                <a:solidFill>
                  <a:schemeClr val="tx1"/>
                </a:solidFill>
                <a:latin typeface="Times New Roman" panose="02020603050405020304" pitchFamily="18" charset="0"/>
                <a:cs typeface="Times New Roman" panose="02020603050405020304" pitchFamily="18" charset="0"/>
              </a:rPr>
              <a:t>, B. </a:t>
            </a:r>
            <a:r>
              <a:rPr lang="en-US" sz="1800" dirty="0" err="1">
                <a:solidFill>
                  <a:schemeClr val="tx1"/>
                </a:solidFill>
                <a:latin typeface="Times New Roman" panose="02020603050405020304" pitchFamily="18" charset="0"/>
                <a:cs typeface="Times New Roman" panose="02020603050405020304" pitchFamily="18" charset="0"/>
              </a:rPr>
              <a:t>Szubstarski</a:t>
            </a:r>
            <a:r>
              <a:rPr lang="en-US" sz="1800" dirty="0">
                <a:solidFill>
                  <a:schemeClr val="tx1"/>
                </a:solidFill>
                <a:latin typeface="Times New Roman" panose="02020603050405020304" pitchFamily="18" charset="0"/>
                <a:cs typeface="Times New Roman" panose="02020603050405020304" pitchFamily="18" charset="0"/>
              </a:rPr>
              <a:t>, E. </a:t>
            </a:r>
            <a:r>
              <a:rPr lang="en-US" sz="1800" dirty="0" err="1">
                <a:solidFill>
                  <a:schemeClr val="tx1"/>
                </a:solidFill>
                <a:latin typeface="Times New Roman" panose="02020603050405020304" pitchFamily="18" charset="0"/>
                <a:cs typeface="Times New Roman" panose="02020603050405020304" pitchFamily="18" charset="0"/>
              </a:rPr>
              <a:t>Boernert</a:t>
            </a:r>
            <a:r>
              <a:rPr lang="en-US" sz="1800" dirty="0">
                <a:solidFill>
                  <a:schemeClr val="tx1"/>
                </a:solidFill>
                <a:latin typeface="Times New Roman" panose="02020603050405020304" pitchFamily="18" charset="0"/>
                <a:cs typeface="Times New Roman" panose="02020603050405020304" pitchFamily="18" charset="0"/>
              </a:rPr>
              <a:t>, B. </a:t>
            </a:r>
            <a:r>
              <a:rPr lang="en-US" sz="1800" dirty="0" err="1">
                <a:solidFill>
                  <a:schemeClr val="tx1"/>
                </a:solidFill>
                <a:latin typeface="Times New Roman" panose="02020603050405020304" pitchFamily="18" charset="0"/>
                <a:cs typeface="Times New Roman" panose="02020603050405020304" pitchFamily="18" charset="0"/>
              </a:rPr>
              <a:t>Tackenberg</a:t>
            </a:r>
            <a:r>
              <a:rPr lang="en-US" sz="1800" dirty="0">
                <a:solidFill>
                  <a:schemeClr val="tx1"/>
                </a:solidFill>
                <a:latin typeface="Times New Roman" panose="02020603050405020304" pitchFamily="18" charset="0"/>
                <a:cs typeface="Times New Roman" panose="02020603050405020304" pitchFamily="18" charset="0"/>
              </a:rPr>
              <a:t>, and J. </a:t>
            </a:r>
            <a:r>
              <a:rPr lang="en-US" sz="1800" dirty="0" err="1">
                <a:solidFill>
                  <a:schemeClr val="tx1"/>
                </a:solidFill>
                <a:latin typeface="Times New Roman" panose="02020603050405020304" pitchFamily="18" charset="0"/>
                <a:cs typeface="Times New Roman" panose="02020603050405020304" pitchFamily="18" charset="0"/>
              </a:rPr>
              <a:t>Wuerfel</a:t>
            </a:r>
            <a:r>
              <a:rPr lang="en-US" sz="1800" dirty="0">
                <a:solidFill>
                  <a:schemeClr val="tx1"/>
                </a:solidFill>
                <a:latin typeface="Times New Roman" panose="02020603050405020304" pitchFamily="18" charset="0"/>
                <a:cs typeface="Times New Roman" panose="02020603050405020304" pitchFamily="18" charset="0"/>
              </a:rPr>
              <a:t>, “Federated learning for lesion segmentation in multiple sclerosis: a real-world multi-center feasibility study,” </a:t>
            </a:r>
            <a:r>
              <a:rPr lang="en-US" sz="1800" i="1" dirty="0">
                <a:solidFill>
                  <a:schemeClr val="tx1"/>
                </a:solidFill>
                <a:latin typeface="Times New Roman" panose="02020603050405020304" pitchFamily="18" charset="0"/>
                <a:cs typeface="Times New Roman" panose="02020603050405020304" pitchFamily="18" charset="0"/>
              </a:rPr>
              <a:t>Front. Neurol.</a:t>
            </a:r>
            <a:r>
              <a:rPr lang="en-US" sz="1800" dirty="0">
                <a:solidFill>
                  <a:schemeClr val="tx1"/>
                </a:solidFill>
                <a:latin typeface="Times New Roman" panose="02020603050405020304" pitchFamily="18" charset="0"/>
                <a:cs typeface="Times New Roman" panose="02020603050405020304" pitchFamily="18" charset="0"/>
              </a:rPr>
              <a:t>, vol. 16, p. 1620469, 2025, </a:t>
            </a:r>
            <a:r>
              <a:rPr lang="en-US" sz="1800" dirty="0" err="1">
                <a:solidFill>
                  <a:schemeClr val="tx1"/>
                </a:solidFill>
                <a:latin typeface="Times New Roman" panose="02020603050405020304" pitchFamily="18" charset="0"/>
                <a:cs typeface="Times New Roman" panose="02020603050405020304" pitchFamily="18" charset="0"/>
              </a:rPr>
              <a:t>doi</a:t>
            </a:r>
            <a:r>
              <a:rPr lang="en-US" sz="1800" dirty="0">
                <a:solidFill>
                  <a:schemeClr val="tx1"/>
                </a:solidFill>
                <a:latin typeface="Times New Roman" panose="02020603050405020304" pitchFamily="18" charset="0"/>
                <a:cs typeface="Times New Roman" panose="02020603050405020304" pitchFamily="18" charset="0"/>
              </a:rPr>
              <a:t>: 10.3389/FNEUR.2025.1620469</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[3]	A. </a:t>
            </a:r>
            <a:r>
              <a:rPr lang="en-US" sz="1800" dirty="0" err="1">
                <a:solidFill>
                  <a:schemeClr val="tx1"/>
                </a:solidFill>
                <a:latin typeface="Times New Roman" panose="02020603050405020304" pitchFamily="18" charset="0"/>
                <a:cs typeface="Times New Roman" panose="02020603050405020304" pitchFamily="18" charset="0"/>
              </a:rPr>
              <a:t>Andishgar</a:t>
            </a:r>
            <a:r>
              <a:rPr lang="en-US" sz="1800" dirty="0">
                <a:solidFill>
                  <a:schemeClr val="tx1"/>
                </a:solidFill>
                <a:latin typeface="Times New Roman" panose="02020603050405020304" pitchFamily="18" charset="0"/>
                <a:cs typeface="Times New Roman" panose="02020603050405020304" pitchFamily="18" charset="0"/>
              </a:rPr>
              <a:t> </a:t>
            </a:r>
            <a:r>
              <a:rPr lang="en-US" sz="1800" i="1" dirty="0">
                <a:solidFill>
                  <a:schemeClr val="tx1"/>
                </a:solidFill>
                <a:latin typeface="Times New Roman" panose="02020603050405020304" pitchFamily="18" charset="0"/>
                <a:cs typeface="Times New Roman" panose="02020603050405020304" pitchFamily="18" charset="0"/>
              </a:rPr>
              <a:t>et al.</a:t>
            </a:r>
            <a:r>
              <a:rPr lang="en-US" sz="1800" dirty="0">
                <a:solidFill>
                  <a:schemeClr val="tx1"/>
                </a:solidFill>
                <a:latin typeface="Times New Roman" panose="02020603050405020304" pitchFamily="18" charset="0"/>
                <a:cs typeface="Times New Roman" panose="02020603050405020304" pitchFamily="18" charset="0"/>
              </a:rPr>
              <a:t>, “Automated multiple sclerosis lesion segmentation from 3D-FLAIR MRI using R2AUNet: A deep learning approach with recurrent residual and attention mechanisms,” </a:t>
            </a:r>
            <a:r>
              <a:rPr lang="en-US" sz="1800" i="1" dirty="0" err="1">
                <a:solidFill>
                  <a:schemeClr val="tx1"/>
                </a:solidFill>
                <a:latin typeface="Times New Roman" panose="02020603050405020304" pitchFamily="18" charset="0"/>
                <a:cs typeface="Times New Roman" panose="02020603050405020304" pitchFamily="18" charset="0"/>
              </a:rPr>
              <a:t>Mult</a:t>
            </a:r>
            <a:r>
              <a:rPr lang="en-US" sz="1800" i="1" dirty="0">
                <a:solidFill>
                  <a:schemeClr val="tx1"/>
                </a:solidFill>
                <a:latin typeface="Times New Roman" panose="02020603050405020304" pitchFamily="18" charset="0"/>
                <a:cs typeface="Times New Roman" panose="02020603050405020304" pitchFamily="18" charset="0"/>
              </a:rPr>
              <a:t>. </a:t>
            </a:r>
            <a:r>
              <a:rPr lang="en-US" sz="1800" i="1" dirty="0" err="1">
                <a:solidFill>
                  <a:schemeClr val="tx1"/>
                </a:solidFill>
                <a:latin typeface="Times New Roman" panose="02020603050405020304" pitchFamily="18" charset="0"/>
                <a:cs typeface="Times New Roman" panose="02020603050405020304" pitchFamily="18" charset="0"/>
              </a:rPr>
              <a:t>Scler</a:t>
            </a:r>
            <a:r>
              <a:rPr lang="en-US" sz="1800" i="1" dirty="0">
                <a:solidFill>
                  <a:schemeClr val="tx1"/>
                </a:solidFill>
                <a:latin typeface="Times New Roman" panose="02020603050405020304" pitchFamily="18" charset="0"/>
                <a:cs typeface="Times New Roman" panose="02020603050405020304" pitchFamily="18" charset="0"/>
              </a:rPr>
              <a:t>. </a:t>
            </a:r>
            <a:r>
              <a:rPr lang="en-US" sz="1800" i="1" dirty="0" err="1">
                <a:solidFill>
                  <a:schemeClr val="tx1"/>
                </a:solidFill>
                <a:latin typeface="Times New Roman" panose="02020603050405020304" pitchFamily="18" charset="0"/>
                <a:cs typeface="Times New Roman" panose="02020603050405020304" pitchFamily="18" charset="0"/>
              </a:rPr>
              <a:t>Relat</a:t>
            </a:r>
            <a:r>
              <a:rPr lang="en-US" sz="1800" i="1" dirty="0">
                <a:solidFill>
                  <a:schemeClr val="tx1"/>
                </a:solidFill>
                <a:latin typeface="Times New Roman" panose="02020603050405020304" pitchFamily="18" charset="0"/>
                <a:cs typeface="Times New Roman" panose="02020603050405020304" pitchFamily="18" charset="0"/>
              </a:rPr>
              <a:t>. </a:t>
            </a:r>
            <a:r>
              <a:rPr lang="en-US" sz="1800" i="1" dirty="0" err="1">
                <a:solidFill>
                  <a:schemeClr val="tx1"/>
                </a:solidFill>
                <a:latin typeface="Times New Roman" panose="02020603050405020304" pitchFamily="18" charset="0"/>
                <a:cs typeface="Times New Roman" panose="02020603050405020304" pitchFamily="18" charset="0"/>
              </a:rPr>
              <a:t>Disord</a:t>
            </a:r>
            <a:r>
              <a:rPr lang="en-US" sz="1800" i="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vol. 102, Oct. 2025, </a:t>
            </a:r>
            <a:r>
              <a:rPr lang="en-US" sz="1800" dirty="0" err="1">
                <a:solidFill>
                  <a:schemeClr val="tx1"/>
                </a:solidFill>
                <a:latin typeface="Times New Roman" panose="02020603050405020304" pitchFamily="18" charset="0"/>
                <a:cs typeface="Times New Roman" panose="02020603050405020304" pitchFamily="18" charset="0"/>
              </a:rPr>
              <a:t>doi</a:t>
            </a:r>
            <a:r>
              <a:rPr lang="en-US" sz="1800" dirty="0">
                <a:solidFill>
                  <a:schemeClr val="tx1"/>
                </a:solidFill>
                <a:latin typeface="Times New Roman" panose="02020603050405020304" pitchFamily="18" charset="0"/>
                <a:cs typeface="Times New Roman" panose="02020603050405020304" pitchFamily="18" charset="0"/>
              </a:rPr>
              <a:t>: 10.1016/j.msard.2025.106620.</a:t>
            </a:r>
          </a:p>
          <a:p>
            <a:r>
              <a:rPr lang="en-US" sz="1800" dirty="0">
                <a:solidFill>
                  <a:schemeClr val="tx1"/>
                </a:solidFill>
                <a:latin typeface="Times New Roman" panose="02020603050405020304" pitchFamily="18" charset="0"/>
                <a:cs typeface="Times New Roman" panose="02020603050405020304" pitchFamily="18" charset="0"/>
              </a:rPr>
              <a:t>[4]	S. </a:t>
            </a:r>
            <a:r>
              <a:rPr lang="en-US" sz="1800" dirty="0" err="1">
                <a:solidFill>
                  <a:schemeClr val="tx1"/>
                </a:solidFill>
                <a:latin typeface="Times New Roman" panose="02020603050405020304" pitchFamily="18" charset="0"/>
                <a:cs typeface="Times New Roman" panose="02020603050405020304" pitchFamily="18" charset="0"/>
              </a:rPr>
              <a:t>Gaj</a:t>
            </a:r>
            <a:r>
              <a:rPr lang="en-US" sz="1800" dirty="0">
                <a:solidFill>
                  <a:schemeClr val="tx1"/>
                </a:solidFill>
                <a:latin typeface="Times New Roman" panose="02020603050405020304" pitchFamily="18" charset="0"/>
                <a:cs typeface="Times New Roman" panose="02020603050405020304" pitchFamily="18" charset="0"/>
              </a:rPr>
              <a:t>, B. </a:t>
            </a:r>
            <a:r>
              <a:rPr lang="en-US" sz="1800" dirty="0" err="1">
                <a:solidFill>
                  <a:schemeClr val="tx1"/>
                </a:solidFill>
                <a:latin typeface="Times New Roman" panose="02020603050405020304" pitchFamily="18" charset="0"/>
                <a:cs typeface="Times New Roman" panose="02020603050405020304" pitchFamily="18" charset="0"/>
              </a:rPr>
              <a:t>Thoomukuntla</a:t>
            </a:r>
            <a:r>
              <a:rPr lang="en-US" sz="1800" dirty="0">
                <a:solidFill>
                  <a:schemeClr val="tx1"/>
                </a:solidFill>
                <a:latin typeface="Times New Roman" panose="02020603050405020304" pitchFamily="18" charset="0"/>
                <a:cs typeface="Times New Roman" panose="02020603050405020304" pitchFamily="18" charset="0"/>
              </a:rPr>
              <a:t>, D. </a:t>
            </a:r>
            <a:r>
              <a:rPr lang="en-US" sz="1800" dirty="0" err="1">
                <a:solidFill>
                  <a:schemeClr val="tx1"/>
                </a:solidFill>
                <a:latin typeface="Times New Roman" panose="02020603050405020304" pitchFamily="18" charset="0"/>
                <a:cs typeface="Times New Roman" panose="02020603050405020304" pitchFamily="18" charset="0"/>
              </a:rPr>
              <a:t>Ontaneda</a:t>
            </a:r>
            <a:r>
              <a:rPr lang="en-US" sz="1800" dirty="0">
                <a:solidFill>
                  <a:schemeClr val="tx1"/>
                </a:solidFill>
                <a:latin typeface="Times New Roman" panose="02020603050405020304" pitchFamily="18" charset="0"/>
                <a:cs typeface="Times New Roman" panose="02020603050405020304" pitchFamily="18" charset="0"/>
              </a:rPr>
              <a:t>, and K. Nakamura, “Subject-Based Transfer Learning in Longitudinal Multiple Sclerosis Lesion Segmentation,” </a:t>
            </a:r>
            <a:r>
              <a:rPr lang="en-US" sz="1800" i="1" dirty="0">
                <a:solidFill>
                  <a:schemeClr val="tx1"/>
                </a:solidFill>
                <a:latin typeface="Times New Roman" panose="02020603050405020304" pitchFamily="18" charset="0"/>
                <a:cs typeface="Times New Roman" panose="02020603050405020304" pitchFamily="18" charset="0"/>
              </a:rPr>
              <a:t>J. Neuroimaging</a:t>
            </a:r>
            <a:r>
              <a:rPr lang="en-US" sz="1800" dirty="0">
                <a:solidFill>
                  <a:schemeClr val="tx1"/>
                </a:solidFill>
                <a:latin typeface="Times New Roman" panose="02020603050405020304" pitchFamily="18" charset="0"/>
                <a:cs typeface="Times New Roman" panose="02020603050405020304" pitchFamily="18" charset="0"/>
              </a:rPr>
              <a:t>, vol. 35, no. 1, Jan. 2025, </a:t>
            </a:r>
            <a:r>
              <a:rPr lang="en-US" sz="1800" dirty="0" err="1">
                <a:solidFill>
                  <a:schemeClr val="tx1"/>
                </a:solidFill>
                <a:latin typeface="Times New Roman" panose="02020603050405020304" pitchFamily="18" charset="0"/>
                <a:cs typeface="Times New Roman" panose="02020603050405020304" pitchFamily="18" charset="0"/>
              </a:rPr>
              <a:t>doi</a:t>
            </a:r>
            <a:r>
              <a:rPr lang="en-US" sz="1800" dirty="0">
                <a:solidFill>
                  <a:schemeClr val="tx1"/>
                </a:solidFill>
                <a:latin typeface="Times New Roman" panose="02020603050405020304" pitchFamily="18" charset="0"/>
                <a:cs typeface="Times New Roman" panose="02020603050405020304" pitchFamily="18" charset="0"/>
              </a:rPr>
              <a:t>: 10.1111/JON.70024</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[5]	P. </a:t>
            </a:r>
            <a:r>
              <a:rPr lang="en-US" sz="1800" dirty="0" err="1">
                <a:solidFill>
                  <a:schemeClr val="tx1"/>
                </a:solidFill>
                <a:latin typeface="Times New Roman" panose="02020603050405020304" pitchFamily="18" charset="0"/>
                <a:cs typeface="Times New Roman" panose="02020603050405020304" pitchFamily="18" charset="0"/>
              </a:rPr>
              <a:t>Belwal</a:t>
            </a:r>
            <a:r>
              <a:rPr lang="en-US" sz="1800" dirty="0">
                <a:solidFill>
                  <a:schemeClr val="tx1"/>
                </a:solidFill>
                <a:latin typeface="Times New Roman" panose="02020603050405020304" pitchFamily="18" charset="0"/>
                <a:cs typeface="Times New Roman" panose="02020603050405020304" pitchFamily="18" charset="0"/>
              </a:rPr>
              <a:t> and S. Singh, “Multiple Sclerosis Lesion Segmentation using MRI: U-Net Approach,” </a:t>
            </a:r>
            <a:r>
              <a:rPr lang="en-US" sz="1800" i="1" dirty="0">
                <a:solidFill>
                  <a:schemeClr val="tx1"/>
                </a:solidFill>
                <a:latin typeface="Times New Roman" panose="02020603050405020304" pitchFamily="18" charset="0"/>
                <a:cs typeface="Times New Roman" panose="02020603050405020304" pitchFamily="18" charset="0"/>
              </a:rPr>
              <a:t>Procedia </a:t>
            </a:r>
            <a:r>
              <a:rPr lang="en-US" sz="1800" i="1" dirty="0" err="1">
                <a:solidFill>
                  <a:schemeClr val="tx1"/>
                </a:solidFill>
                <a:latin typeface="Times New Roman" panose="02020603050405020304" pitchFamily="18" charset="0"/>
                <a:cs typeface="Times New Roman" panose="02020603050405020304" pitchFamily="18" charset="0"/>
              </a:rPr>
              <a:t>Comput</a:t>
            </a:r>
            <a:r>
              <a:rPr lang="en-US" sz="1800" i="1" dirty="0">
                <a:solidFill>
                  <a:schemeClr val="tx1"/>
                </a:solidFill>
                <a:latin typeface="Times New Roman" panose="02020603050405020304" pitchFamily="18" charset="0"/>
                <a:cs typeface="Times New Roman" panose="02020603050405020304" pitchFamily="18" charset="0"/>
              </a:rPr>
              <a:t>. Sci.</a:t>
            </a:r>
            <a:r>
              <a:rPr lang="en-US" sz="1800" dirty="0">
                <a:solidFill>
                  <a:schemeClr val="tx1"/>
                </a:solidFill>
                <a:latin typeface="Times New Roman" panose="02020603050405020304" pitchFamily="18" charset="0"/>
                <a:cs typeface="Times New Roman" panose="02020603050405020304" pitchFamily="18" charset="0"/>
              </a:rPr>
              <a:t>, vol. 260, pp. 513–522, 2025, </a:t>
            </a:r>
            <a:r>
              <a:rPr lang="en-US" sz="1800" dirty="0" err="1">
                <a:solidFill>
                  <a:schemeClr val="tx1"/>
                </a:solidFill>
                <a:latin typeface="Times New Roman" panose="02020603050405020304" pitchFamily="18" charset="0"/>
                <a:cs typeface="Times New Roman" panose="02020603050405020304" pitchFamily="18" charset="0"/>
              </a:rPr>
              <a:t>doi</a:t>
            </a:r>
            <a:r>
              <a:rPr lang="en-US" sz="1800" dirty="0">
                <a:solidFill>
                  <a:schemeClr val="tx1"/>
                </a:solidFill>
                <a:latin typeface="Times New Roman" panose="02020603050405020304" pitchFamily="18" charset="0"/>
                <a:cs typeface="Times New Roman" panose="02020603050405020304" pitchFamily="18" charset="0"/>
              </a:rPr>
              <a:t>: 10.1016/J.PROCS.2025.03.229.</a:t>
            </a:r>
          </a:p>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46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350248" y="5959475"/>
            <a:ext cx="2844800" cy="365125"/>
          </a:xfrm>
        </p:spPr>
        <p:txBody>
          <a:bodyPr/>
          <a:lstStyle/>
          <a:p>
            <a:pPr>
              <a:defRPr/>
            </a:pPr>
            <a:fld id="{4CD333A3-7515-47B8-9EDC-EE0892D9C861}" type="slidenum">
              <a:rPr lang="en-US" smtClean="0"/>
              <a:pPr>
                <a:defRPr/>
              </a:pPr>
              <a:t>16</a:t>
            </a:fld>
            <a:endParaRPr lang="en-US" dirty="0"/>
          </a:p>
        </p:txBody>
      </p:sp>
      <p:sp>
        <p:nvSpPr>
          <p:cNvPr id="5" name="TextBox 4">
            <a:extLst>
              <a:ext uri="{FF2B5EF4-FFF2-40B4-BE49-F238E27FC236}">
                <a16:creationId xmlns:a16="http://schemas.microsoft.com/office/drawing/2014/main" xmlns="" id="{2EBB629C-0461-0D8C-DA5C-C136AD5443E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1649</TotalTime>
  <Words>944</Words>
  <Application>Microsoft Office PowerPoint</Application>
  <PresentationFormat>Widescreen</PresentationFormat>
  <Paragraphs>144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vt:lpstr>
      <vt:lpstr>Times New Roman</vt:lpstr>
      <vt:lpstr>Wingdings</vt:lpstr>
      <vt:lpstr>New Microsoft PowerPoint Presentation</vt:lpstr>
      <vt:lpstr>AI-Based Computer Vision and Deep Learning Approach for Multiple Sclerosis (MS) Lesion Detection</vt:lpstr>
      <vt:lpstr>Outline</vt:lpstr>
      <vt:lpstr>Introduction</vt:lpstr>
      <vt:lpstr>Objective</vt:lpstr>
      <vt:lpstr>Background Study</vt:lpstr>
      <vt:lpstr>Gap Analysis</vt:lpstr>
      <vt:lpstr>Methodology</vt:lpstr>
      <vt:lpstr>PowerPoint Presentation</vt:lpstr>
      <vt:lpstr>Result and Analysis</vt:lpstr>
      <vt:lpstr>Result and Analysis</vt:lpstr>
      <vt:lpstr>Novelty of the Work</vt:lpstr>
      <vt:lpstr>Sample dataset</vt:lpstr>
      <vt:lpstr>Web Interface of Image Enhancement</vt:lpstr>
      <vt:lpstr>Conclusion</vt:lpstr>
      <vt:lpstr>References</vt:lpstr>
      <vt:lpstr>PowerPoint Presentation</vt:lpstr>
    </vt:vector>
  </TitlesOfParts>
  <Company>Acer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Microsoft account</cp:lastModifiedBy>
  <cp:revision>275</cp:revision>
  <dcterms:created xsi:type="dcterms:W3CDTF">2011-07-17T02:56:35Z</dcterms:created>
  <dcterms:modified xsi:type="dcterms:W3CDTF">2026-09-16T18:00:21Z</dcterms:modified>
</cp:coreProperties>
</file>